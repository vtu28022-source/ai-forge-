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9f288dd-bc9c-7251-4cae-b5db782ae422}">
          <p14:sldIdLst>
            <p14:sldId id="256"/>
          </p14:sldIdLst>
        </p14:section>
        <p14:section name="Problem" id="{aa4ff048-9b22-f5e4-4fb6-dc73afdae817}">
          <p14:sldIdLst>
            <p14:sldId id="257"/>
            <p14:sldId id="258"/>
          </p14:sldIdLst>
        </p14:section>
        <p14:section name="Context" id="{180fd45b-1e1f-8801-245c-4c406551a50a}">
          <p14:sldIdLst>
            <p14:sldId id="259"/>
            <p14:sldId id="260"/>
          </p14:sldIdLst>
        </p14:section>
        <p14:section name="Solution" id="{11dd7520-567c-43e7-a8f0-0f7bc7860960}">
          <p14:sldIdLst>
            <p14:sldId id="261"/>
            <p14:sldId id="262"/>
            <p14:sldId id="263"/>
            <p14:sldId id="264"/>
          </p14:sldIdLst>
        </p14:section>
        <p14:section name="Value" id="{8968c06c-68e4-f068-6ea9-8c35b5bed83f}">
          <p14:sldIdLst>
            <p14:sldId id="265"/>
            <p14:sldId id="266"/>
            <p14:sldId id="267"/>
          </p14:sldIdLst>
        </p14:section>
        <p14:section name="Closing" id="{f581710f-d2f4-39aa-799b-9cce2154311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"/>
            <a:ext cx="914400" cy="2926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4828032"/>
            <a:ext cx="8229600" cy="1828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488289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SHENEX  |  RxShield AI  |  AI Forge Expo</a:t>
            </a:r>
            <a:endParaRPr lang="en-US" sz="8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"/>
            <a:ext cx="914400" cy="2926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4828032"/>
            <a:ext cx="8229600" cy="1828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488289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SHENEX  |  RxShield AI  |  AI Forge Expo</a:t>
            </a:r>
            <a:endParaRPr lang="en-US" sz="8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2860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3383280"/>
            <a:ext cx="4937760" cy="1554480"/>
          </a:xfrm>
          <a:prstGeom prst="rect">
            <a:avLst/>
          </a:prstGeom>
        </p:spPr>
      </p:pic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960120"/>
            <a:ext cx="5943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960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RxShield AI</a:t>
            </a:r>
            <a:endParaRPr lang="en-US" sz="44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Scan Smart. Take Right. Protect Everyone.</a:t>
            </a:r>
            <a:endParaRPr lang="en-US" sz="1700" dirty="0"/>
          </a:p>
        </p:txBody>
      </p:sp>
      <p:sp>
        <p:nvSpPr>
          <p:cNvPr id="4" name="text1"/>
          <p:cNvSpPr txBox="1"/>
          <p:nvPr/>
        </p:nvSpPr>
        <p:spPr>
          <a:xfrm>
            <a:off x="548640" y="5486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AI FORGE EXPO  |  SELECTED SDG: SDG 3, GOOD HEALTH AND WELL-BEING</a:t>
            </a:r>
            <a:endParaRPr lang="en-US" sz="1000" dirty="0"/>
          </a:p>
        </p:txBody>
      </p:sp>
      <p:sp>
        <p:nvSpPr>
          <p:cNvPr id="5" name="text2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Every responsible dose protects more than one life.</a:t>
            </a:r>
            <a:endParaRPr lang="en-US" sz="1200" dirty="0"/>
          </a:p>
        </p:txBody>
      </p:sp>
      <p:sp>
        <p:nvSpPr>
          <p:cNvPr id="6" name="text3"/>
          <p:cNvSpPr txBox="1"/>
          <p:nvPr/>
        </p:nvSpPr>
        <p:spPr>
          <a:xfrm>
            <a:off x="548640" y="2834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Team Name: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SHENEX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Team Members: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Navithra L, Divya Dharshini V,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Meghana A, Merlin Janet P</a:t>
            </a:r>
            <a:endParaRPr lang="en-US" sz="1200" dirty="0"/>
          </a:p>
        </p:txBody>
      </p:sp>
      <p:sp>
        <p:nvSpPr>
          <p:cNvPr id="7" name="text4"/>
          <p:cNvSpPr txBox="1"/>
          <p:nvPr/>
        </p:nvSpPr>
        <p:spPr>
          <a:xfrm>
            <a:off x="4937760" y="33832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Rx</a:t>
            </a:r>
            <a:endParaRPr lang="en-US" sz="4400" dirty="0"/>
          </a:p>
        </p:txBody>
      </p:sp>
      <p:sp>
        <p:nvSpPr>
          <p:cNvPr id="8" name="text5"/>
          <p:cNvSpPr txBox="1"/>
          <p:nvPr/>
        </p:nvSpPr>
        <p:spPr>
          <a:xfrm>
            <a:off x="694944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SAFE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Antibiotics save lives. Misuse wears them out.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shape6"/>
          <p:cNvSpPr/>
          <p:nvPr/>
        </p:nvSpPr>
        <p:spPr>
          <a:xfrm>
            <a:off x="457200" y="1234440"/>
            <a:ext cx="3840480" cy="34290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" name="text7"/>
          <p:cNvSpPr txBox="1"/>
          <p:nvPr/>
        </p:nvSpPr>
        <p:spPr>
          <a:xfrm>
            <a:off x="685800" y="1417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THE REAL-WORLD PROBLEM</a:t>
            </a:r>
            <a:endParaRPr lang="en-US" sz="900" dirty="0"/>
          </a:p>
        </p:txBody>
      </p:sp>
      <p:sp>
        <p:nvSpPr>
          <p:cNvPr id="6" name="text8"/>
          <p:cNvSpPr txBox="1"/>
          <p:nvPr/>
        </p:nvSpPr>
        <p:spPr>
          <a:xfrm>
            <a:off x="685800" y="1737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Taken without professional advice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Used for viral infections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Stopped when symptoms fade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Shared with family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Wrong dose or timing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Reused from old prescriptions</a:t>
            </a:r>
            <a:endParaRPr lang="en-US" sz="1100" dirty="0"/>
          </a:p>
        </p:txBody>
      </p:sp>
      <p:sp>
        <p:nvSpPr>
          <p:cNvPr id="7" name="text9"/>
          <p:cNvSpPr txBox="1"/>
          <p:nvPr/>
        </p:nvSpPr>
        <p:spPr>
          <a:xfrm>
            <a:off x="685800" y="3749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Result: bacteria evolve and medicines stop working. This is antimicrobial resistance (AMR).</a:t>
            </a:r>
            <a:endParaRPr lang="en-US" sz="1100" dirty="0"/>
          </a:p>
        </p:txBody>
      </p:sp>
      <p:sp>
        <p:nvSpPr>
          <p:cNvPr id="8" name="shape10"/>
          <p:cNvSpPr/>
          <p:nvPr/>
        </p:nvSpPr>
        <p:spPr>
          <a:xfrm>
            <a:off x="4526280" y="1234440"/>
            <a:ext cx="416052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shape11"/>
          <p:cNvSpPr/>
          <p:nvPr/>
        </p:nvSpPr>
        <p:spPr>
          <a:xfrm>
            <a:off x="4690872" y="137160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12"/>
          <p:cNvSpPr txBox="1"/>
          <p:nvPr/>
        </p:nvSpPr>
        <p:spPr>
          <a:xfrm>
            <a:off x="4690872" y="150876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Who is affected?</a:t>
            </a:r>
            <a:endParaRPr lang="en-US" sz="1200" dirty="0"/>
          </a:p>
        </p:txBody>
      </p:sp>
      <p:sp>
        <p:nvSpPr>
          <p:cNvPr id="11" name="text13"/>
          <p:cNvSpPr txBox="1"/>
          <p:nvPr/>
        </p:nvSpPr>
        <p:spPr>
          <a:xfrm>
            <a:off x="4690872" y="1801368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Low health-literacy patients, older adults, rural communities, language barriers, child caregivers, healthcare workers.</a:t>
            </a:r>
            <a:endParaRPr lang="en-US" sz="950" dirty="0"/>
          </a:p>
        </p:txBody>
      </p:sp>
      <p:sp>
        <p:nvSpPr>
          <p:cNvPr id="12" name="shape14"/>
          <p:cNvSpPr/>
          <p:nvPr/>
        </p:nvSpPr>
        <p:spPr>
          <a:xfrm>
            <a:off x="4526280" y="2331720"/>
            <a:ext cx="416052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shape15"/>
          <p:cNvSpPr/>
          <p:nvPr/>
        </p:nvSpPr>
        <p:spPr>
          <a:xfrm>
            <a:off x="4690872" y="246888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16"/>
          <p:cNvSpPr txBox="1"/>
          <p:nvPr/>
        </p:nvSpPr>
        <p:spPr>
          <a:xfrm>
            <a:off x="4690872" y="260604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Where and when does it occur?</a:t>
            </a:r>
            <a:endParaRPr lang="en-US" sz="1200" dirty="0"/>
          </a:p>
        </p:txBody>
      </p:sp>
      <p:sp>
        <p:nvSpPr>
          <p:cNvPr id="15" name="text17"/>
          <p:cNvSpPr txBox="1"/>
          <p:nvPr/>
        </p:nvSpPr>
        <p:spPr>
          <a:xfrm>
            <a:off x="4690872" y="2898648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At home after consultation, at pharmacies (OTC), when prescriptions are unreadable or in an unfamiliar language.</a:t>
            </a:r>
            <a:endParaRPr lang="en-US" sz="950" dirty="0"/>
          </a:p>
        </p:txBody>
      </p:sp>
      <p:sp>
        <p:nvSpPr>
          <p:cNvPr id="16" name="shape18"/>
          <p:cNvSpPr/>
          <p:nvPr/>
        </p:nvSpPr>
        <p:spPr>
          <a:xfrm>
            <a:off x="4526280" y="3429000"/>
            <a:ext cx="416052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shape19"/>
          <p:cNvSpPr/>
          <p:nvPr/>
        </p:nvSpPr>
        <p:spPr>
          <a:xfrm>
            <a:off x="4690872" y="356616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ext20"/>
          <p:cNvSpPr txBox="1"/>
          <p:nvPr/>
        </p:nvSpPr>
        <p:spPr>
          <a:xfrm>
            <a:off x="4690872" y="3703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is it important?</a:t>
            </a:r>
            <a:endParaRPr lang="en-US" sz="1200" dirty="0"/>
          </a:p>
        </p:txBody>
      </p:sp>
      <p:sp>
        <p:nvSpPr>
          <p:cNvPr id="19" name="text21"/>
          <p:cNvSpPr txBox="1"/>
          <p:nvPr/>
        </p:nvSpPr>
        <p:spPr>
          <a:xfrm>
            <a:off x="4690872" y="3995928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Treatment failure, recurring infections, preventable side effects, longer hospital stays, higher costs, drug-resistant infections.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numbers behind a silent pandemic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PROBLEM EVIDENCE AND RESEARCH</a:t>
            </a:r>
            <a:endParaRPr lang="en-US" sz="900" dirty="0"/>
          </a:p>
        </p:txBody>
      </p:sp>
      <p:sp>
        <p:nvSpPr>
          <p:cNvPr id="4" name="text22"/>
          <p:cNvSpPr txBox="1"/>
          <p:nvPr/>
        </p:nvSpPr>
        <p:spPr>
          <a:xfrm>
            <a:off x="548640" y="11887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STATISTICS AND REAL-WORLD DATA (2019)</a:t>
            </a:r>
            <a:endParaRPr lang="en-US" sz="900" dirty="0"/>
          </a:p>
        </p:txBody>
      </p:sp>
      <p:sp>
        <p:nvSpPr>
          <p:cNvPr id="5" name="ring23"/>
          <p:cNvSpPr/>
          <p:nvPr/>
        </p:nvSpPr>
        <p:spPr>
          <a:xfrm>
            <a:off x="548640" y="1463040"/>
            <a:ext cx="1645920" cy="16459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24"/>
          <p:cNvSpPr txBox="1"/>
          <p:nvPr/>
        </p:nvSpPr>
        <p:spPr>
          <a:xfrm>
            <a:off x="548640" y="1759306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1.27M</a:t>
            </a:r>
            <a:endParaRPr lang="en-US" sz="2400" dirty="0"/>
          </a:p>
        </p:txBody>
      </p:sp>
      <p:sp>
        <p:nvSpPr>
          <p:cNvPr id="7" name="text25"/>
          <p:cNvSpPr txBox="1"/>
          <p:nvPr/>
        </p:nvSpPr>
        <p:spPr>
          <a:xfrm>
            <a:off x="713232" y="2368296"/>
            <a:ext cx="131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deaths directly caused by bacterial AMR</a:t>
            </a:r>
            <a:endParaRPr lang="en-US" sz="900" dirty="0"/>
          </a:p>
        </p:txBody>
      </p:sp>
      <p:sp>
        <p:nvSpPr>
          <p:cNvPr id="8" name="ring26"/>
          <p:cNvSpPr/>
          <p:nvPr/>
        </p:nvSpPr>
        <p:spPr>
          <a:xfrm>
            <a:off x="2331720" y="1463040"/>
            <a:ext cx="1645920" cy="16459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9" name="text27"/>
          <p:cNvSpPr txBox="1"/>
          <p:nvPr/>
        </p:nvSpPr>
        <p:spPr>
          <a:xfrm>
            <a:off x="2331720" y="1759306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4.95M</a:t>
            </a:r>
            <a:endParaRPr lang="en-US" sz="2400" dirty="0"/>
          </a:p>
        </p:txBody>
      </p:sp>
      <p:sp>
        <p:nvSpPr>
          <p:cNvPr id="10" name="text28"/>
          <p:cNvSpPr txBox="1"/>
          <p:nvPr/>
        </p:nvSpPr>
        <p:spPr>
          <a:xfrm>
            <a:off x="2496312" y="2368296"/>
            <a:ext cx="131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deaths associated with bacterial AMR</a:t>
            </a:r>
            <a:endParaRPr lang="en-US" sz="900" dirty="0"/>
          </a:p>
        </p:txBody>
      </p:sp>
      <p:sp>
        <p:nvSpPr>
          <p:cNvPr id="11" name="ring29"/>
          <p:cNvSpPr/>
          <p:nvPr/>
        </p:nvSpPr>
        <p:spPr>
          <a:xfrm>
            <a:off x="4114800" y="1463040"/>
            <a:ext cx="1645920" cy="16459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2" name="text30"/>
          <p:cNvSpPr txBox="1"/>
          <p:nvPr/>
        </p:nvSpPr>
        <p:spPr>
          <a:xfrm>
            <a:off x="4114800" y="1759306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Top threat</a:t>
            </a:r>
            <a:endParaRPr lang="en-US" sz="2400" dirty="0"/>
          </a:p>
        </p:txBody>
      </p:sp>
      <p:sp>
        <p:nvSpPr>
          <p:cNvPr id="13" name="text31"/>
          <p:cNvSpPr txBox="1"/>
          <p:nvPr/>
        </p:nvSpPr>
        <p:spPr>
          <a:xfrm>
            <a:off x="4279392" y="2368296"/>
            <a:ext cx="131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WHO: major global health threat</a:t>
            </a:r>
            <a:endParaRPr lang="en-US" sz="900" dirty="0"/>
          </a:p>
        </p:txBody>
      </p:sp>
      <p:sp>
        <p:nvSpPr>
          <p:cNvPr id="14" name="text32"/>
          <p:cNvSpPr txBox="1"/>
          <p:nvPr/>
        </p:nvSpPr>
        <p:spPr>
          <a:xfrm>
            <a:off x="548640" y="32461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SOURCES AND REFERENCES</a:t>
            </a:r>
            <a:endParaRPr lang="en-US" sz="900" dirty="0"/>
          </a:p>
        </p:txBody>
      </p:sp>
      <p:sp>
        <p:nvSpPr>
          <p:cNvPr id="15" name="text33"/>
          <p:cNvSpPr txBox="1"/>
          <p:nvPr/>
        </p:nvSpPr>
        <p:spPr>
          <a:xfrm>
            <a:off x="548640" y="34930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WHO – Antimicrobial Resistance; Murray et al., The Lancet, 2022; WHO Global Action Plan on AMR; WHO Medication Without Harm</a:t>
            </a:r>
            <a:endParaRPr lang="en-US" sz="900" dirty="0"/>
          </a:p>
        </p:txBody>
      </p:sp>
      <p:sp>
        <p:nvSpPr>
          <p:cNvPr id="16" name="shape34"/>
          <p:cNvSpPr/>
          <p:nvPr/>
        </p:nvSpPr>
        <p:spPr>
          <a:xfrm>
            <a:off x="548640" y="3931920"/>
            <a:ext cx="521208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shape35"/>
          <p:cNvSpPr/>
          <p:nvPr/>
        </p:nvSpPr>
        <p:spPr>
          <a:xfrm>
            <a:off x="548640" y="3931920"/>
            <a:ext cx="82296" cy="731520"/>
          </a:xfrm>
          <a:prstGeom prst="round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text36"/>
          <p:cNvSpPr txBox="1"/>
          <p:nvPr/>
        </p:nvSpPr>
        <p:spPr>
          <a:xfrm>
            <a:off x="777240" y="3931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Insight: no tool connects patient behavior, verification, safety, escalation and community data.</a:t>
            </a:r>
            <a:endParaRPr lang="en-US" sz="1050" dirty="0"/>
          </a:p>
        </p:txBody>
      </p:sp>
      <p:sp>
        <p:nvSpPr>
          <p:cNvPr id="19" name="shape37"/>
          <p:cNvSpPr/>
          <p:nvPr/>
        </p:nvSpPr>
        <p:spPr>
          <a:xfrm>
            <a:off x="5943600" y="1188720"/>
            <a:ext cx="2743200" cy="347472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" name="text38"/>
          <p:cNvSpPr txBox="1"/>
          <p:nvPr/>
        </p:nvSpPr>
        <p:spPr>
          <a:xfrm>
            <a:off x="6126480" y="1371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RESEARCH FINDINGS</a:t>
            </a:r>
            <a:endParaRPr lang="en-US" sz="900" dirty="0"/>
          </a:p>
        </p:txBody>
      </p:sp>
      <p:sp>
        <p:nvSpPr>
          <p:cNvPr id="21" name="text39"/>
          <p:cNvSpPr txBox="1"/>
          <p:nvPr/>
        </p:nvSpPr>
        <p:spPr>
          <a:xfrm>
            <a:off x="6126480" y="169164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Incomplete courses, needless use and wrong doses speed up resistance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Low health literacy raises medication-error risk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Existing tools solve one slice only: alarms, OCR, records or dashboards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One goal, two targets, one connected loop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SDG ALIGNMENT</a:t>
            </a:r>
            <a:endParaRPr lang="en-US" sz="900" dirty="0"/>
          </a:p>
        </p:txBody>
      </p:sp>
      <p:sp>
        <p:nvSpPr>
          <p:cNvPr id="4" name="SDG badge"/>
          <p:cNvSpPr/>
          <p:nvPr/>
        </p:nvSpPr>
        <p:spPr>
          <a:xfrm>
            <a:off x="548640" y="1371600"/>
            <a:ext cx="2560320" cy="2560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40"/>
          <p:cNvSpPr txBox="1"/>
          <p:nvPr/>
        </p:nvSpPr>
        <p:spPr>
          <a:xfrm>
            <a:off x="548640" y="128016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9600" dirty="0"/>
          </a:p>
        </p:txBody>
      </p:sp>
      <p:sp>
        <p:nvSpPr>
          <p:cNvPr id="6" name="text41"/>
          <p:cNvSpPr txBox="1"/>
          <p:nvPr/>
        </p:nvSpPr>
        <p:spPr>
          <a:xfrm>
            <a:off x="77724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Selected SDG: Good Health and Well-Being</a:t>
            </a:r>
            <a:endParaRPr lang="en-US" sz="1100" dirty="0"/>
          </a:p>
        </p:txBody>
      </p:sp>
      <p:sp>
        <p:nvSpPr>
          <p:cNvPr id="7" name="shape42"/>
          <p:cNvSpPr/>
          <p:nvPr/>
        </p:nvSpPr>
        <p:spPr>
          <a:xfrm>
            <a:off x="3429000" y="1280160"/>
            <a:ext cx="525780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shape43"/>
          <p:cNvSpPr/>
          <p:nvPr/>
        </p:nvSpPr>
        <p:spPr>
          <a:xfrm>
            <a:off x="3593592" y="141732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44"/>
          <p:cNvSpPr txBox="1"/>
          <p:nvPr/>
        </p:nvSpPr>
        <p:spPr>
          <a:xfrm>
            <a:off x="3593592" y="155448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Relevant target 3.8: Safe, affordable essential medicines</a:t>
            </a:r>
            <a:endParaRPr lang="en-US" sz="1200" dirty="0"/>
          </a:p>
        </p:txBody>
      </p:sp>
      <p:sp>
        <p:nvSpPr>
          <p:cNvPr id="10" name="text45"/>
          <p:cNvSpPr txBox="1"/>
          <p:nvPr/>
        </p:nvSpPr>
        <p:spPr>
          <a:xfrm>
            <a:off x="3593592" y="184708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Safe use of medicines through prescription understanding and adherence support.</a:t>
            </a:r>
            <a:endParaRPr lang="en-US" sz="1000" dirty="0"/>
          </a:p>
        </p:txBody>
      </p:sp>
      <p:sp>
        <p:nvSpPr>
          <p:cNvPr id="11" name="shape46"/>
          <p:cNvSpPr/>
          <p:nvPr/>
        </p:nvSpPr>
        <p:spPr>
          <a:xfrm>
            <a:off x="3429000" y="2377440"/>
            <a:ext cx="525780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shape47"/>
          <p:cNvSpPr/>
          <p:nvPr/>
        </p:nvSpPr>
        <p:spPr>
          <a:xfrm>
            <a:off x="3593592" y="251460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48"/>
          <p:cNvSpPr txBox="1"/>
          <p:nvPr/>
        </p:nvSpPr>
        <p:spPr>
          <a:xfrm>
            <a:off x="3593592" y="265176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Relevant target 3.d: Early warning and risk management</a:t>
            </a:r>
            <a:endParaRPr lang="en-US" sz="1200" dirty="0"/>
          </a:p>
        </p:txBody>
      </p:sp>
      <p:sp>
        <p:nvSpPr>
          <p:cNvPr id="14" name="text49"/>
          <p:cNvSpPr txBox="1"/>
          <p:nvPr/>
        </p:nvSpPr>
        <p:spPr>
          <a:xfrm>
            <a:off x="3593592" y="294436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Anonymous aggregated AMR insights help health systems act early.</a:t>
            </a:r>
            <a:endParaRPr lang="en-US" sz="1000" dirty="0"/>
          </a:p>
        </p:txBody>
      </p:sp>
      <p:sp>
        <p:nvSpPr>
          <p:cNvPr id="15" name="shape50"/>
          <p:cNvSpPr/>
          <p:nvPr/>
        </p:nvSpPr>
        <p:spPr>
          <a:xfrm>
            <a:off x="3429000" y="3474720"/>
            <a:ext cx="52578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shape51"/>
          <p:cNvSpPr/>
          <p:nvPr/>
        </p:nvSpPr>
        <p:spPr>
          <a:xfrm>
            <a:off x="3593592" y="361188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52"/>
          <p:cNvSpPr txBox="1"/>
          <p:nvPr/>
        </p:nvSpPr>
        <p:spPr>
          <a:xfrm>
            <a:off x="3593592" y="374904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the problem connects to SDG 3</a:t>
            </a:r>
            <a:endParaRPr lang="en-US" sz="1200" dirty="0"/>
          </a:p>
        </p:txBody>
      </p:sp>
      <p:sp>
        <p:nvSpPr>
          <p:cNvPr id="18" name="text53"/>
          <p:cNvSpPr txBox="1"/>
          <p:nvPr/>
        </p:nvSpPr>
        <p:spPr>
          <a:xfrm>
            <a:off x="3593592" y="4041648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Antibiotic misuse causes treatment failure and resistance. RxShield promotes safe use, fewer errors, early side-effect detection and professional referral.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Plenty of tools. No complete loop.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EXISTING SOLUTIONS</a:t>
            </a:r>
            <a:endParaRPr lang="en-US" sz="900" dirty="0"/>
          </a:p>
        </p:txBody>
      </p:sp>
      <p:sp>
        <p:nvSpPr>
          <p:cNvPr id="4" name="text54"/>
          <p:cNvSpPr txBox="1"/>
          <p:nvPr/>
        </p:nvSpPr>
        <p:spPr>
          <a:xfrm>
            <a:off x="1005840" y="1170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CURRENT METHOD</a:t>
            </a:r>
            <a:endParaRPr lang="en-US" sz="900" dirty="0"/>
          </a:p>
        </p:txBody>
      </p:sp>
      <p:sp>
        <p:nvSpPr>
          <p:cNvPr id="5" name="text55"/>
          <p:cNvSpPr txBox="1"/>
          <p:nvPr/>
        </p:nvSpPr>
        <p:spPr>
          <a:xfrm>
            <a:off x="2651760" y="1170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LIMITATION</a:t>
            </a:r>
            <a:endParaRPr lang="en-US" sz="900" dirty="0"/>
          </a:p>
        </p:txBody>
      </p:sp>
      <p:sp>
        <p:nvSpPr>
          <p:cNvPr id="6" name="shape56"/>
          <p:cNvSpPr/>
          <p:nvPr/>
        </p:nvSpPr>
        <p:spPr>
          <a:xfrm>
            <a:off x="457200" y="1444752"/>
            <a:ext cx="4937760" cy="484632"/>
          </a:xfrm>
          <a:prstGeom prst="roundRect">
            <a:avLst>
              <a:gd name="adj" fmla="val 1886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x57"/>
          <p:cNvSpPr/>
          <p:nvPr/>
        </p:nvSpPr>
        <p:spPr>
          <a:xfrm>
            <a:off x="566928" y="1536192"/>
            <a:ext cx="301752" cy="3017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58"/>
          <p:cNvSpPr txBox="1"/>
          <p:nvPr/>
        </p:nvSpPr>
        <p:spPr>
          <a:xfrm>
            <a:off x="566928" y="153619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x</a:t>
            </a:r>
            <a:endParaRPr lang="en-US" sz="1200" dirty="0"/>
          </a:p>
        </p:txBody>
      </p:sp>
      <p:sp>
        <p:nvSpPr>
          <p:cNvPr id="9" name="text59"/>
          <p:cNvSpPr txBox="1"/>
          <p:nvPr/>
        </p:nvSpPr>
        <p:spPr>
          <a:xfrm>
            <a:off x="1005840" y="144475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Reminder apps</a:t>
            </a:r>
            <a:endParaRPr lang="en-US" sz="1050" dirty="0"/>
          </a:p>
        </p:txBody>
      </p:sp>
      <p:sp>
        <p:nvSpPr>
          <p:cNvPr id="10" name="text60"/>
          <p:cNvSpPr txBox="1"/>
          <p:nvPr/>
        </p:nvSpPr>
        <p:spPr>
          <a:xfrm>
            <a:off x="2651760" y="1444752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Manual entry, alarms only</a:t>
            </a:r>
            <a:endParaRPr lang="en-US" sz="950" dirty="0"/>
          </a:p>
        </p:txBody>
      </p:sp>
      <p:sp>
        <p:nvSpPr>
          <p:cNvPr id="11" name="shape61"/>
          <p:cNvSpPr/>
          <p:nvPr/>
        </p:nvSpPr>
        <p:spPr>
          <a:xfrm>
            <a:off x="457200" y="2020824"/>
            <a:ext cx="4937760" cy="484632"/>
          </a:xfrm>
          <a:prstGeom prst="roundRect">
            <a:avLst>
              <a:gd name="adj" fmla="val 1886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x62"/>
          <p:cNvSpPr/>
          <p:nvPr/>
        </p:nvSpPr>
        <p:spPr>
          <a:xfrm>
            <a:off x="566928" y="2112264"/>
            <a:ext cx="301752" cy="3017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63"/>
          <p:cNvSpPr txBox="1"/>
          <p:nvPr/>
        </p:nvSpPr>
        <p:spPr>
          <a:xfrm>
            <a:off x="566928" y="21122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x</a:t>
            </a:r>
            <a:endParaRPr lang="en-US" sz="1200" dirty="0"/>
          </a:p>
        </p:txBody>
      </p:sp>
      <p:sp>
        <p:nvSpPr>
          <p:cNvPr id="14" name="text64"/>
          <p:cNvSpPr txBox="1"/>
          <p:nvPr/>
        </p:nvSpPr>
        <p:spPr>
          <a:xfrm>
            <a:off x="1005840" y="2020824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Printed prescriptions</a:t>
            </a:r>
            <a:endParaRPr lang="en-US" sz="1050" dirty="0"/>
          </a:p>
        </p:txBody>
      </p:sp>
      <p:sp>
        <p:nvSpPr>
          <p:cNvPr id="15" name="text65"/>
          <p:cNvSpPr txBox="1"/>
          <p:nvPr/>
        </p:nvSpPr>
        <p:spPr>
          <a:xfrm>
            <a:off x="2651760" y="2020824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Hard to read, technical language</a:t>
            </a:r>
            <a:endParaRPr lang="en-US" sz="950" dirty="0"/>
          </a:p>
        </p:txBody>
      </p:sp>
      <p:sp>
        <p:nvSpPr>
          <p:cNvPr id="16" name="shape66"/>
          <p:cNvSpPr/>
          <p:nvPr/>
        </p:nvSpPr>
        <p:spPr>
          <a:xfrm>
            <a:off x="457200" y="2596896"/>
            <a:ext cx="4937760" cy="484632"/>
          </a:xfrm>
          <a:prstGeom prst="roundRect">
            <a:avLst>
              <a:gd name="adj" fmla="val 1886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x67"/>
          <p:cNvSpPr/>
          <p:nvPr/>
        </p:nvSpPr>
        <p:spPr>
          <a:xfrm>
            <a:off x="566928" y="2688336"/>
            <a:ext cx="301752" cy="3017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68"/>
          <p:cNvSpPr txBox="1"/>
          <p:nvPr/>
        </p:nvSpPr>
        <p:spPr>
          <a:xfrm>
            <a:off x="566928" y="268833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x</a:t>
            </a:r>
            <a:endParaRPr lang="en-US" sz="1200" dirty="0"/>
          </a:p>
        </p:txBody>
      </p:sp>
      <p:sp>
        <p:nvSpPr>
          <p:cNvPr id="19" name="text69"/>
          <p:cNvSpPr txBox="1"/>
          <p:nvPr/>
        </p:nvSpPr>
        <p:spPr>
          <a:xfrm>
            <a:off x="1005840" y="2596896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Pharmacy software</a:t>
            </a:r>
            <a:endParaRPr lang="en-US" sz="1050" dirty="0"/>
          </a:p>
        </p:txBody>
      </p:sp>
      <p:sp>
        <p:nvSpPr>
          <p:cNvPr id="20" name="text70"/>
          <p:cNvSpPr txBox="1"/>
          <p:nvPr/>
        </p:nvSpPr>
        <p:spPr>
          <a:xfrm>
            <a:off x="2651760" y="2596896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No patient-side guidance</a:t>
            </a:r>
            <a:endParaRPr lang="en-US" sz="950" dirty="0"/>
          </a:p>
        </p:txBody>
      </p:sp>
      <p:sp>
        <p:nvSpPr>
          <p:cNvPr id="21" name="shape71"/>
          <p:cNvSpPr/>
          <p:nvPr/>
        </p:nvSpPr>
        <p:spPr>
          <a:xfrm>
            <a:off x="457200" y="3172968"/>
            <a:ext cx="4937760" cy="484632"/>
          </a:xfrm>
          <a:prstGeom prst="roundRect">
            <a:avLst>
              <a:gd name="adj" fmla="val 1886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x72"/>
          <p:cNvSpPr/>
          <p:nvPr/>
        </p:nvSpPr>
        <p:spPr>
          <a:xfrm>
            <a:off x="566928" y="3264408"/>
            <a:ext cx="301752" cy="3017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73"/>
          <p:cNvSpPr txBox="1"/>
          <p:nvPr/>
        </p:nvSpPr>
        <p:spPr>
          <a:xfrm>
            <a:off x="566928" y="32644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x</a:t>
            </a:r>
            <a:endParaRPr lang="en-US" sz="1200" dirty="0"/>
          </a:p>
        </p:txBody>
      </p:sp>
      <p:sp>
        <p:nvSpPr>
          <p:cNvPr id="24" name="text74"/>
          <p:cNvSpPr txBox="1"/>
          <p:nvPr/>
        </p:nvSpPr>
        <p:spPr>
          <a:xfrm>
            <a:off x="1005840" y="317296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Telemedicine / EHR</a:t>
            </a:r>
            <a:endParaRPr lang="en-US" sz="1050" dirty="0"/>
          </a:p>
        </p:txBody>
      </p:sp>
      <p:sp>
        <p:nvSpPr>
          <p:cNvPr id="25" name="text75"/>
          <p:cNvSpPr txBox="1"/>
          <p:nvPr/>
        </p:nvSpPr>
        <p:spPr>
          <a:xfrm>
            <a:off x="2651760" y="3172968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Needs connectivity, no adherence loop</a:t>
            </a:r>
            <a:endParaRPr lang="en-US" sz="950" dirty="0"/>
          </a:p>
        </p:txBody>
      </p:sp>
      <p:sp>
        <p:nvSpPr>
          <p:cNvPr id="26" name="shape76"/>
          <p:cNvSpPr/>
          <p:nvPr/>
        </p:nvSpPr>
        <p:spPr>
          <a:xfrm>
            <a:off x="457200" y="3749040"/>
            <a:ext cx="4937760" cy="484632"/>
          </a:xfrm>
          <a:prstGeom prst="roundRect">
            <a:avLst>
              <a:gd name="adj" fmla="val 1886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x77"/>
          <p:cNvSpPr/>
          <p:nvPr/>
        </p:nvSpPr>
        <p:spPr>
          <a:xfrm>
            <a:off x="566928" y="3840480"/>
            <a:ext cx="301752" cy="3017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78"/>
          <p:cNvSpPr txBox="1"/>
          <p:nvPr/>
        </p:nvSpPr>
        <p:spPr>
          <a:xfrm>
            <a:off x="566928" y="384048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x</a:t>
            </a:r>
            <a:endParaRPr lang="en-US" sz="1200" dirty="0"/>
          </a:p>
        </p:txBody>
      </p:sp>
      <p:sp>
        <p:nvSpPr>
          <p:cNvPr id="29" name="text79"/>
          <p:cNvSpPr txBox="1"/>
          <p:nvPr/>
        </p:nvSpPr>
        <p:spPr>
          <a:xfrm>
            <a:off x="1005840" y="374904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AMR surveillance</a:t>
            </a:r>
            <a:endParaRPr lang="en-US" sz="1050" dirty="0"/>
          </a:p>
        </p:txBody>
      </p:sp>
      <p:sp>
        <p:nvSpPr>
          <p:cNvPr id="30" name="text80"/>
          <p:cNvSpPr txBox="1"/>
          <p:nvPr/>
        </p:nvSpPr>
        <p:spPr>
          <a:xfrm>
            <a:off x="2651760" y="3749040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Data arrives after lab confirmation</a:t>
            </a:r>
            <a:endParaRPr lang="en-US" sz="950" dirty="0"/>
          </a:p>
        </p:txBody>
      </p:sp>
      <p:sp>
        <p:nvSpPr>
          <p:cNvPr id="31" name="text81"/>
          <p:cNvSpPr txBox="1"/>
          <p:nvPr/>
        </p:nvSpPr>
        <p:spPr>
          <a:xfrm>
            <a:off x="45720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Also missing: regional languages and voice, unsafe or duplicate prescription detection, side-effect severity guidance.</a:t>
            </a:r>
            <a:endParaRPr lang="en-US" sz="900" dirty="0"/>
          </a:p>
        </p:txBody>
      </p:sp>
      <p:sp>
        <p:nvSpPr>
          <p:cNvPr id="32" name="shape82"/>
          <p:cNvSpPr/>
          <p:nvPr/>
        </p:nvSpPr>
        <p:spPr>
          <a:xfrm>
            <a:off x="5669280" y="1188720"/>
            <a:ext cx="3017520" cy="3566160"/>
          </a:xfrm>
          <a:prstGeom prst="roundRect">
            <a:avLst>
              <a:gd name="adj" fmla="val 4545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text83"/>
          <p:cNvSpPr txBox="1"/>
          <p:nvPr/>
        </p:nvSpPr>
        <p:spPr>
          <a:xfrm>
            <a:off x="5897880" y="1371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tx1"/>
                </a:solidFill>
              </a:rPr>
              <a:t>THE EXISTING GAP</a:t>
            </a:r>
            <a:endParaRPr lang="en-US" sz="900" dirty="0"/>
          </a:p>
        </p:txBody>
      </p:sp>
      <p:sp>
        <p:nvSpPr>
          <p:cNvPr id="34" name="text84"/>
          <p:cNvSpPr txBox="1"/>
          <p:nvPr/>
        </p:nvSpPr>
        <p:spPr>
          <a:xfrm>
            <a:off x="589788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accessible system combines</a:t>
            </a:r>
            <a:endParaRPr lang="en-US" sz="1300" dirty="0"/>
          </a:p>
        </p:txBody>
      </p:sp>
      <p:sp>
        <p:nvSpPr>
          <p:cNvPr id="35" name="text85"/>
          <p:cNvSpPr txBox="1"/>
          <p:nvPr/>
        </p:nvSpPr>
        <p:spPr>
          <a:xfrm>
            <a:off x="5897880" y="2240280"/>
            <a:ext cx="2606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Scanning and verification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Multilingual explanation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Adherence support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Side-effect monitoring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Professional escalation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Community AMR insight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RxShield AI: prescriptions made safe and simple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PROPOSED SOLUTION</a:t>
            </a:r>
            <a:endParaRPr lang="en-US" sz="900" dirty="0"/>
          </a:p>
        </p:txBody>
      </p:sp>
      <p:sp>
        <p:nvSpPr>
          <p:cNvPr id="4" name="shape86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" name="text87"/>
          <p:cNvSpPr txBox="1"/>
          <p:nvPr/>
        </p:nvSpPr>
        <p:spPr>
          <a:xfrm>
            <a:off x="685800" y="1188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Our solution:  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 multilingual companion that turns any prescription into a verified, simple, trackable plan with safe escalation.</a:t>
            </a:r>
            <a:endParaRPr lang="en-US" sz="1050" dirty="0"/>
          </a:p>
        </p:txBody>
      </p:sp>
      <p:sp>
        <p:nvSpPr>
          <p:cNvPr id="6" name="shape88"/>
          <p:cNvSpPr/>
          <p:nvPr/>
        </p:nvSpPr>
        <p:spPr>
          <a:xfrm>
            <a:off x="457200" y="1828800"/>
            <a:ext cx="26517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shape89"/>
          <p:cNvSpPr/>
          <p:nvPr/>
        </p:nvSpPr>
        <p:spPr>
          <a:xfrm>
            <a:off x="621792" y="196596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90"/>
          <p:cNvSpPr txBox="1"/>
          <p:nvPr/>
        </p:nvSpPr>
        <p:spPr>
          <a:xfrm>
            <a:off x="621792" y="21031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 Scan</a:t>
            </a:r>
            <a:endParaRPr lang="en-US" sz="1200" dirty="0"/>
          </a:p>
        </p:txBody>
      </p:sp>
      <p:sp>
        <p:nvSpPr>
          <p:cNvPr id="9" name="text91"/>
          <p:cNvSpPr txBox="1"/>
          <p:nvPr/>
        </p:nvSpPr>
        <p:spPr>
          <a:xfrm>
            <a:off x="621792" y="23957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Photograph a prescription or strip. AI extracts medicine, dose, timing. You confirm every field.</a:t>
            </a:r>
            <a:endParaRPr lang="en-US" sz="900" dirty="0"/>
          </a:p>
        </p:txBody>
      </p:sp>
      <p:sp>
        <p:nvSpPr>
          <p:cNvPr id="10" name="shape92"/>
          <p:cNvSpPr/>
          <p:nvPr/>
        </p:nvSpPr>
        <p:spPr>
          <a:xfrm>
            <a:off x="3246120" y="1828800"/>
            <a:ext cx="26517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shape93"/>
          <p:cNvSpPr/>
          <p:nvPr/>
        </p:nvSpPr>
        <p:spPr>
          <a:xfrm>
            <a:off x="3410712" y="196596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ext94"/>
          <p:cNvSpPr txBox="1"/>
          <p:nvPr/>
        </p:nvSpPr>
        <p:spPr>
          <a:xfrm>
            <a:off x="3410712" y="21031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  Safety checks</a:t>
            </a:r>
            <a:endParaRPr lang="en-US" sz="1200" dirty="0"/>
          </a:p>
        </p:txBody>
      </p:sp>
      <p:sp>
        <p:nvSpPr>
          <p:cNvPr id="13" name="text95"/>
          <p:cNvSpPr txBox="1"/>
          <p:nvPr/>
        </p:nvSpPr>
        <p:spPr>
          <a:xfrm>
            <a:off x="3410712" y="23957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Duplicate, expired, shared and allergy flags. Serious issues go to a pharmacist.</a:t>
            </a:r>
            <a:endParaRPr lang="en-US" sz="900" dirty="0"/>
          </a:p>
        </p:txBody>
      </p:sp>
      <p:sp>
        <p:nvSpPr>
          <p:cNvPr id="14" name="shape96"/>
          <p:cNvSpPr/>
          <p:nvPr/>
        </p:nvSpPr>
        <p:spPr>
          <a:xfrm>
            <a:off x="6035040" y="1828800"/>
            <a:ext cx="26517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hape97"/>
          <p:cNvSpPr/>
          <p:nvPr/>
        </p:nvSpPr>
        <p:spPr>
          <a:xfrm>
            <a:off x="6199632" y="196596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98"/>
          <p:cNvSpPr txBox="1"/>
          <p:nvPr/>
        </p:nvSpPr>
        <p:spPr>
          <a:xfrm>
            <a:off x="6199632" y="21031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  Your language</a:t>
            </a:r>
            <a:endParaRPr lang="en-US" sz="1200" dirty="0"/>
          </a:p>
        </p:txBody>
      </p:sp>
      <p:sp>
        <p:nvSpPr>
          <p:cNvPr id="17" name="text99"/>
          <p:cNvSpPr txBox="1"/>
          <p:nvPr/>
        </p:nvSpPr>
        <p:spPr>
          <a:xfrm>
            <a:off x="6199632" y="23957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Simple wording, regional languages, voice, dose cards, large text.</a:t>
            </a:r>
            <a:endParaRPr lang="en-US" sz="900" dirty="0"/>
          </a:p>
        </p:txBody>
      </p:sp>
      <p:sp>
        <p:nvSpPr>
          <p:cNvPr id="18" name="shape100"/>
          <p:cNvSpPr/>
          <p:nvPr/>
        </p:nvSpPr>
        <p:spPr>
          <a:xfrm>
            <a:off x="457200" y="3200400"/>
            <a:ext cx="26517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shape101"/>
          <p:cNvSpPr/>
          <p:nvPr/>
        </p:nvSpPr>
        <p:spPr>
          <a:xfrm>
            <a:off x="621792" y="333756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ext102"/>
          <p:cNvSpPr txBox="1"/>
          <p:nvPr/>
        </p:nvSpPr>
        <p:spPr>
          <a:xfrm>
            <a:off x="621792" y="3474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  Adherence</a:t>
            </a:r>
            <a:endParaRPr lang="en-US" sz="1200" dirty="0"/>
          </a:p>
        </p:txBody>
      </p:sp>
      <p:sp>
        <p:nvSpPr>
          <p:cNvPr id="21" name="text103"/>
          <p:cNvSpPr txBox="1"/>
          <p:nvPr/>
        </p:nvSpPr>
        <p:spPr>
          <a:xfrm>
            <a:off x="621792" y="37673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Offline reminders, missed-dose log, course tracker, caregiver alerts with consent.</a:t>
            </a:r>
            <a:endParaRPr lang="en-US" sz="900" dirty="0"/>
          </a:p>
        </p:txBody>
      </p:sp>
      <p:sp>
        <p:nvSpPr>
          <p:cNvPr id="22" name="shape104"/>
          <p:cNvSpPr/>
          <p:nvPr/>
        </p:nvSpPr>
        <p:spPr>
          <a:xfrm>
            <a:off x="3246120" y="3200400"/>
            <a:ext cx="26517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shape105"/>
          <p:cNvSpPr/>
          <p:nvPr/>
        </p:nvSpPr>
        <p:spPr>
          <a:xfrm>
            <a:off x="3410712" y="333756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106"/>
          <p:cNvSpPr txBox="1"/>
          <p:nvPr/>
        </p:nvSpPr>
        <p:spPr>
          <a:xfrm>
            <a:off x="3410712" y="3474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  Side-effect triage</a:t>
            </a:r>
            <a:endParaRPr lang="en-US" sz="1200" dirty="0"/>
          </a:p>
        </p:txBody>
      </p:sp>
      <p:sp>
        <p:nvSpPr>
          <p:cNvPr id="25" name="text107"/>
          <p:cNvSpPr txBox="1"/>
          <p:nvPr/>
        </p:nvSpPr>
        <p:spPr>
          <a:xfrm>
            <a:off x="3410712" y="37673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Green monitor, Amber call a professional, Red urgent care. Never a diagnosis.</a:t>
            </a:r>
            <a:endParaRPr lang="en-US" sz="900" dirty="0"/>
          </a:p>
        </p:txBody>
      </p:sp>
      <p:sp>
        <p:nvSpPr>
          <p:cNvPr id="26" name="shape108"/>
          <p:cNvSpPr/>
          <p:nvPr/>
        </p:nvSpPr>
        <p:spPr>
          <a:xfrm>
            <a:off x="6035040" y="3200400"/>
            <a:ext cx="26517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109"/>
          <p:cNvSpPr/>
          <p:nvPr/>
        </p:nvSpPr>
        <p:spPr>
          <a:xfrm>
            <a:off x="6199632" y="333756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110"/>
          <p:cNvSpPr txBox="1"/>
          <p:nvPr/>
        </p:nvSpPr>
        <p:spPr>
          <a:xfrm>
            <a:off x="6199632" y="3474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  AMR map</a:t>
            </a:r>
            <a:endParaRPr lang="en-US" sz="1200" dirty="0"/>
          </a:p>
        </p:txBody>
      </p:sp>
      <p:sp>
        <p:nvSpPr>
          <p:cNvPr id="29" name="text111"/>
          <p:cNvSpPr txBox="1"/>
          <p:nvPr/>
        </p:nvSpPr>
        <p:spPr>
          <a:xfrm>
            <a:off x="6199632" y="37673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De-identified, thresholded trends show where to intervene.</a:t>
            </a:r>
            <a:endParaRPr lang="en-US" sz="900" dirty="0"/>
          </a:p>
        </p:txBody>
      </p:sp>
      <p:sp>
        <p:nvSpPr>
          <p:cNvPr id="30" name="text112"/>
          <p:cNvSpPr txBox="1"/>
          <p:nvPr/>
        </p:nvSpPr>
        <p:spPr>
          <a:xfrm>
            <a:off x="457200" y="45902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KEY FEATURES above. It does not diagnose or prescribe; it helps people follow prescriptions safely.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From one photo to a protected community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SYSTEM WORKFLOW AND ARCHITECTURE</a:t>
            </a:r>
            <a:endParaRPr lang="en-US" sz="900" dirty="0"/>
          </a:p>
        </p:txBody>
      </p:sp>
      <p:sp>
        <p:nvSpPr>
          <p:cNvPr id="4" name="shape113"/>
          <p:cNvSpPr/>
          <p:nvPr/>
        </p:nvSpPr>
        <p:spPr>
          <a:xfrm>
            <a:off x="457200" y="1280160"/>
            <a:ext cx="1691640" cy="502920"/>
          </a:xfrm>
          <a:prstGeom prst="chevron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114"/>
          <p:cNvSpPr txBox="1"/>
          <p:nvPr/>
        </p:nvSpPr>
        <p:spPr>
          <a:xfrm>
            <a:off x="713232" y="1280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INPUT</a:t>
            </a:r>
            <a:endParaRPr lang="en-US" sz="850" dirty="0"/>
          </a:p>
        </p:txBody>
      </p:sp>
      <p:sp>
        <p:nvSpPr>
          <p:cNvPr id="6" name="shape115"/>
          <p:cNvSpPr/>
          <p:nvPr/>
        </p:nvSpPr>
        <p:spPr>
          <a:xfrm>
            <a:off x="502920" y="1920240"/>
            <a:ext cx="1508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116"/>
          <p:cNvSpPr txBox="1"/>
          <p:nvPr/>
        </p:nvSpPr>
        <p:spPr>
          <a:xfrm>
            <a:off x="594360" y="20116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Prescription, medicine strip, voice, icons</a:t>
            </a:r>
            <a:endParaRPr lang="en-US" sz="1000" dirty="0"/>
          </a:p>
        </p:txBody>
      </p:sp>
      <p:sp>
        <p:nvSpPr>
          <p:cNvPr id="8" name="shape117"/>
          <p:cNvSpPr/>
          <p:nvPr/>
        </p:nvSpPr>
        <p:spPr>
          <a:xfrm>
            <a:off x="2121408" y="1280160"/>
            <a:ext cx="1691640" cy="502920"/>
          </a:xfrm>
          <a:prstGeom prst="chevron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118"/>
          <p:cNvSpPr txBox="1"/>
          <p:nvPr/>
        </p:nvSpPr>
        <p:spPr>
          <a:xfrm>
            <a:off x="2377440" y="1280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10" name="shape119"/>
          <p:cNvSpPr/>
          <p:nvPr/>
        </p:nvSpPr>
        <p:spPr>
          <a:xfrm>
            <a:off x="2167128" y="1920240"/>
            <a:ext cx="1508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120"/>
          <p:cNvSpPr txBox="1"/>
          <p:nvPr/>
        </p:nvSpPr>
        <p:spPr>
          <a:xfrm>
            <a:off x="2258568" y="20116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Quality check, OCR, field extraction, human confirmation</a:t>
            </a:r>
            <a:endParaRPr lang="en-US" sz="1000" dirty="0"/>
          </a:p>
        </p:txBody>
      </p:sp>
      <p:sp>
        <p:nvSpPr>
          <p:cNvPr id="12" name="shape121"/>
          <p:cNvSpPr/>
          <p:nvPr/>
        </p:nvSpPr>
        <p:spPr>
          <a:xfrm>
            <a:off x="3785616" y="1280160"/>
            <a:ext cx="1691640" cy="502920"/>
          </a:xfrm>
          <a:prstGeom prst="chevron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122"/>
          <p:cNvSpPr txBox="1"/>
          <p:nvPr/>
        </p:nvSpPr>
        <p:spPr>
          <a:xfrm>
            <a:off x="4041648" y="1280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/ SOFTWARE</a:t>
            </a:r>
            <a:endParaRPr lang="en-US" sz="850" dirty="0"/>
          </a:p>
        </p:txBody>
      </p:sp>
      <p:sp>
        <p:nvSpPr>
          <p:cNvPr id="14" name="shape123"/>
          <p:cNvSpPr/>
          <p:nvPr/>
        </p:nvSpPr>
        <p:spPr>
          <a:xfrm>
            <a:off x="3831336" y="1920240"/>
            <a:ext cx="1508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124"/>
          <p:cNvSpPr txBox="1"/>
          <p:nvPr/>
        </p:nvSpPr>
        <p:spPr>
          <a:xfrm>
            <a:off x="3922776" y="20116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Verified knowledge base, rules engine, explanation generator</a:t>
            </a:r>
            <a:endParaRPr lang="en-US" sz="1000" dirty="0"/>
          </a:p>
        </p:txBody>
      </p:sp>
      <p:sp>
        <p:nvSpPr>
          <p:cNvPr id="16" name="shape125"/>
          <p:cNvSpPr/>
          <p:nvPr/>
        </p:nvSpPr>
        <p:spPr>
          <a:xfrm>
            <a:off x="5449824" y="1280160"/>
            <a:ext cx="1691640" cy="502920"/>
          </a:xfrm>
          <a:prstGeom prst="chevron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126"/>
          <p:cNvSpPr txBox="1"/>
          <p:nvPr/>
        </p:nvSpPr>
        <p:spPr>
          <a:xfrm>
            <a:off x="5705856" y="1280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OUTPUT</a:t>
            </a:r>
            <a:endParaRPr lang="en-US" sz="850" dirty="0"/>
          </a:p>
        </p:txBody>
      </p:sp>
      <p:sp>
        <p:nvSpPr>
          <p:cNvPr id="18" name="shape127"/>
          <p:cNvSpPr/>
          <p:nvPr/>
        </p:nvSpPr>
        <p:spPr>
          <a:xfrm>
            <a:off x="5495544" y="1920240"/>
            <a:ext cx="1508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128"/>
          <p:cNvSpPr txBox="1"/>
          <p:nvPr/>
        </p:nvSpPr>
        <p:spPr>
          <a:xfrm>
            <a:off x="5586984" y="20116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Multilingual schedule, voice, reminders, referrals</a:t>
            </a:r>
            <a:endParaRPr lang="en-US" sz="1000" dirty="0"/>
          </a:p>
        </p:txBody>
      </p:sp>
      <p:sp>
        <p:nvSpPr>
          <p:cNvPr id="20" name="shape129"/>
          <p:cNvSpPr/>
          <p:nvPr/>
        </p:nvSpPr>
        <p:spPr>
          <a:xfrm>
            <a:off x="7114032" y="1280160"/>
            <a:ext cx="1691640" cy="502920"/>
          </a:xfrm>
          <a:prstGeom prst="chevron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130"/>
          <p:cNvSpPr txBox="1"/>
          <p:nvPr/>
        </p:nvSpPr>
        <p:spPr>
          <a:xfrm>
            <a:off x="7370064" y="1280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USER INTERACTION</a:t>
            </a:r>
            <a:endParaRPr lang="en-US" sz="850" dirty="0"/>
          </a:p>
        </p:txBody>
      </p:sp>
      <p:sp>
        <p:nvSpPr>
          <p:cNvPr id="22" name="shape131"/>
          <p:cNvSpPr/>
          <p:nvPr/>
        </p:nvSpPr>
        <p:spPr>
          <a:xfrm>
            <a:off x="7159752" y="1920240"/>
            <a:ext cx="1508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132"/>
          <p:cNvSpPr txBox="1"/>
          <p:nvPr/>
        </p:nvSpPr>
        <p:spPr>
          <a:xfrm>
            <a:off x="7251192" y="20116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Dose logs, symptom reports, caregiver view, dashboard</a:t>
            </a:r>
            <a:endParaRPr lang="en-US" sz="1000" dirty="0"/>
          </a:p>
        </p:txBody>
      </p:sp>
      <p:sp>
        <p:nvSpPr>
          <p:cNvPr id="24" name="shape133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text134"/>
          <p:cNvSpPr txBox="1"/>
          <p:nvPr/>
        </p:nvSpPr>
        <p:spPr>
          <a:xfrm>
            <a:off x="685800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BUILT-IN SAFETY LAYER</a:t>
            </a:r>
            <a:endParaRPr lang="en-US" sz="900" dirty="0"/>
          </a:p>
        </p:txBody>
      </p:sp>
      <p:sp>
        <p:nvSpPr>
          <p:cNvPr id="26" name="text135"/>
          <p:cNvSpPr txBox="1"/>
          <p:nvPr/>
        </p:nvSpPr>
        <p:spPr>
          <a:xfrm>
            <a:off x="68580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 Human-confirmed data</a:t>
            </a:r>
            <a:endParaRPr lang="en-US" sz="1000" dirty="0"/>
          </a:p>
        </p:txBody>
      </p:sp>
      <p:sp>
        <p:nvSpPr>
          <p:cNvPr id="27" name="text136"/>
          <p:cNvSpPr txBox="1"/>
          <p:nvPr/>
        </p:nvSpPr>
        <p:spPr>
          <a:xfrm>
            <a:off x="333756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 Red-flag rules</a:t>
            </a:r>
            <a:endParaRPr lang="en-US" sz="1000" dirty="0"/>
          </a:p>
        </p:txBody>
      </p:sp>
      <p:sp>
        <p:nvSpPr>
          <p:cNvPr id="28" name="text137"/>
          <p:cNvSpPr txBox="1"/>
          <p:nvPr/>
        </p:nvSpPr>
        <p:spPr>
          <a:xfrm>
            <a:off x="598932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 Approved sources only</a:t>
            </a:r>
            <a:endParaRPr lang="en-US" sz="1000" dirty="0"/>
          </a:p>
        </p:txBody>
      </p:sp>
      <p:sp>
        <p:nvSpPr>
          <p:cNvPr id="29" name="text138"/>
          <p:cNvSpPr txBox="1"/>
          <p:nvPr/>
        </p:nvSpPr>
        <p:spPr>
          <a:xfrm>
            <a:off x="68580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 No auto-prescribing</a:t>
            </a:r>
            <a:endParaRPr lang="en-US" sz="1000" dirty="0"/>
          </a:p>
        </p:txBody>
      </p:sp>
      <p:sp>
        <p:nvSpPr>
          <p:cNvPr id="30" name="text139"/>
          <p:cNvSpPr txBox="1"/>
          <p:nvPr/>
        </p:nvSpPr>
        <p:spPr>
          <a:xfrm>
            <a:off x="333756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 Consent-based access</a:t>
            </a:r>
            <a:endParaRPr lang="en-US" sz="1000" dirty="0"/>
          </a:p>
        </p:txBody>
      </p:sp>
      <p:sp>
        <p:nvSpPr>
          <p:cNvPr id="31" name="text140"/>
          <p:cNvSpPr txBox="1"/>
          <p:nvPr/>
        </p:nvSpPr>
        <p:spPr>
          <a:xfrm>
            <a:off x="598932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 Encrypted, anonymized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technology, ready to build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4" name="shape141"/>
          <p:cNvSpPr/>
          <p:nvPr/>
        </p:nvSpPr>
        <p:spPr>
          <a:xfrm>
            <a:off x="457200" y="123444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142"/>
          <p:cNvSpPr txBox="1"/>
          <p:nvPr/>
        </p:nvSpPr>
        <p:spPr>
          <a:xfrm>
            <a:off x="45720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/ ML</a:t>
            </a:r>
            <a:endParaRPr lang="en-US" sz="1200" dirty="0"/>
          </a:p>
        </p:txBody>
      </p:sp>
      <p:sp>
        <p:nvSpPr>
          <p:cNvPr id="6" name="shape143"/>
          <p:cNvSpPr/>
          <p:nvPr/>
        </p:nvSpPr>
        <p:spPr>
          <a:xfrm>
            <a:off x="2286000" y="1234440"/>
            <a:ext cx="64008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144"/>
          <p:cNvSpPr txBox="1"/>
          <p:nvPr/>
        </p:nvSpPr>
        <p:spPr>
          <a:xfrm>
            <a:off x="2514600" y="1234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OCR, medicine NER, speech-to-text, translation, TTS, RAG on verified data, anomaly detection</a:t>
            </a:r>
            <a:endParaRPr lang="en-US" sz="1050" dirty="0"/>
          </a:p>
        </p:txBody>
      </p:sp>
      <p:sp>
        <p:nvSpPr>
          <p:cNvPr id="8" name="shape145"/>
          <p:cNvSpPr/>
          <p:nvPr/>
        </p:nvSpPr>
        <p:spPr>
          <a:xfrm>
            <a:off x="457200" y="1892808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146"/>
          <p:cNvSpPr txBox="1"/>
          <p:nvPr/>
        </p:nvSpPr>
        <p:spPr>
          <a:xfrm>
            <a:off x="457200" y="18928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shape147"/>
          <p:cNvSpPr/>
          <p:nvPr/>
        </p:nvSpPr>
        <p:spPr>
          <a:xfrm>
            <a:off x="2286000" y="1892808"/>
            <a:ext cx="64008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148"/>
          <p:cNvSpPr txBox="1"/>
          <p:nvPr/>
        </p:nvSpPr>
        <p:spPr>
          <a:xfrm>
            <a:off x="2514600" y="18928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React, Vite, Tailwind, PWA, Web Speech API, offline storage</a:t>
            </a:r>
            <a:endParaRPr lang="en-US" sz="1050" dirty="0"/>
          </a:p>
        </p:txBody>
      </p:sp>
      <p:sp>
        <p:nvSpPr>
          <p:cNvPr id="12" name="shape149"/>
          <p:cNvSpPr/>
          <p:nvPr/>
        </p:nvSpPr>
        <p:spPr>
          <a:xfrm>
            <a:off x="457200" y="2551176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150"/>
          <p:cNvSpPr txBox="1"/>
          <p:nvPr/>
        </p:nvSpPr>
        <p:spPr>
          <a:xfrm>
            <a:off x="457200" y="25511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shape151"/>
          <p:cNvSpPr/>
          <p:nvPr/>
        </p:nvSpPr>
        <p:spPr>
          <a:xfrm>
            <a:off x="2286000" y="2551176"/>
            <a:ext cx="64008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152"/>
          <p:cNvSpPr txBox="1"/>
          <p:nvPr/>
        </p:nvSpPr>
        <p:spPr>
          <a:xfrm>
            <a:off x="2514600" y="25511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FastAPI / Node.js / Supabase Edge, REST, role-based access, scheduler</a:t>
            </a:r>
            <a:endParaRPr lang="en-US" sz="1050" dirty="0"/>
          </a:p>
        </p:txBody>
      </p:sp>
      <p:sp>
        <p:nvSpPr>
          <p:cNvPr id="16" name="shape153"/>
          <p:cNvSpPr/>
          <p:nvPr/>
        </p:nvSpPr>
        <p:spPr>
          <a:xfrm>
            <a:off x="457200" y="3209544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154"/>
          <p:cNvSpPr txBox="1"/>
          <p:nvPr/>
        </p:nvSpPr>
        <p:spPr>
          <a:xfrm>
            <a:off x="457200" y="3209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shape155"/>
          <p:cNvSpPr/>
          <p:nvPr/>
        </p:nvSpPr>
        <p:spPr>
          <a:xfrm>
            <a:off x="2286000" y="3209544"/>
            <a:ext cx="64008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156"/>
          <p:cNvSpPr txBox="1"/>
          <p:nvPr/>
        </p:nvSpPr>
        <p:spPr>
          <a:xfrm>
            <a:off x="2514600" y="320954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PostgreSQL / Supabase: encrypted profiles, adherence events, consent, regional stats</a:t>
            </a:r>
            <a:endParaRPr lang="en-US" sz="1050" dirty="0"/>
          </a:p>
        </p:txBody>
      </p:sp>
      <p:sp>
        <p:nvSpPr>
          <p:cNvPr id="20" name="shape157"/>
          <p:cNvSpPr/>
          <p:nvPr/>
        </p:nvSpPr>
        <p:spPr>
          <a:xfrm>
            <a:off x="457200" y="3867912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text158"/>
          <p:cNvSpPr txBox="1"/>
          <p:nvPr/>
        </p:nvSpPr>
        <p:spPr>
          <a:xfrm>
            <a:off x="457200" y="38679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APIs / Cloud</a:t>
            </a:r>
            <a:endParaRPr lang="en-US" sz="1200" dirty="0"/>
          </a:p>
        </p:txBody>
      </p:sp>
      <p:sp>
        <p:nvSpPr>
          <p:cNvPr id="22" name="shape159"/>
          <p:cNvSpPr/>
          <p:nvPr/>
        </p:nvSpPr>
        <p:spPr>
          <a:xfrm>
            <a:off x="2286000" y="3867912"/>
            <a:ext cx="64008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160"/>
          <p:cNvSpPr txBox="1"/>
          <p:nvPr/>
        </p:nvSpPr>
        <p:spPr>
          <a:xfrm>
            <a:off x="2514600" y="38679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National medicine DB, RxNorm, interaction DB, OpenStreetMap, SMS / WhatsApp, smartphone camera</a:t>
            </a:r>
            <a:endParaRPr lang="en-US" sz="1050" dirty="0"/>
          </a:p>
        </p:txBody>
      </p:sp>
      <p:sp>
        <p:nvSpPr>
          <p:cNvPr id="24" name="text161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SECURITY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Encryption, minimal data, explicit consent, audit logs, geographic aggregation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See it work in under two minutes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PROTOTYPE AND WORKING DEMO</a:t>
            </a:r>
            <a:endParaRPr lang="en-US" sz="900" dirty="0"/>
          </a:p>
        </p:txBody>
      </p:sp>
      <p:sp>
        <p:nvSpPr>
          <p:cNvPr id="4" name="shape162"/>
          <p:cNvSpPr/>
          <p:nvPr/>
        </p:nvSpPr>
        <p:spPr>
          <a:xfrm>
            <a:off x="548640" y="1188720"/>
            <a:ext cx="1325880" cy="3474720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" name="shape163"/>
          <p:cNvSpPr/>
          <p:nvPr/>
        </p:nvSpPr>
        <p:spPr>
          <a:xfrm>
            <a:off x="621792" y="1371600"/>
            <a:ext cx="1179576" cy="3108960"/>
          </a:xfrm>
          <a:prstGeom prst="roundRect">
            <a:avLst>
              <a:gd name="adj" fmla="val 775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shape164"/>
          <p:cNvSpPr/>
          <p:nvPr/>
        </p:nvSpPr>
        <p:spPr>
          <a:xfrm>
            <a:off x="621792" y="1371600"/>
            <a:ext cx="1179576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165"/>
          <p:cNvSpPr txBox="1"/>
          <p:nvPr/>
        </p:nvSpPr>
        <p:spPr>
          <a:xfrm>
            <a:off x="621792" y="137160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Scan</a:t>
            </a:r>
            <a:endParaRPr lang="en-US" sz="1100" dirty="0"/>
          </a:p>
        </p:txBody>
      </p:sp>
      <p:sp>
        <p:nvSpPr>
          <p:cNvPr id="8" name="text166"/>
          <p:cNvSpPr txBox="1"/>
          <p:nvPr/>
        </p:nvSpPr>
        <p:spPr>
          <a:xfrm>
            <a:off x="713232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Upload prescription</a:t>
            </a:r>
            <a:endParaRPr lang="en-US" sz="900" dirty="0"/>
          </a:p>
        </p:txBody>
      </p:sp>
      <p:sp>
        <p:nvSpPr>
          <p:cNvPr id="9" name="shape167"/>
          <p:cNvSpPr/>
          <p:nvPr/>
        </p:nvSpPr>
        <p:spPr>
          <a:xfrm>
            <a:off x="731520" y="256032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hape168"/>
          <p:cNvSpPr/>
          <p:nvPr/>
        </p:nvSpPr>
        <p:spPr>
          <a:xfrm>
            <a:off x="731520" y="2971800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shape169"/>
          <p:cNvSpPr/>
          <p:nvPr/>
        </p:nvSpPr>
        <p:spPr>
          <a:xfrm>
            <a:off x="731520" y="3840480"/>
            <a:ext cx="960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shape170"/>
          <p:cNvSpPr/>
          <p:nvPr/>
        </p:nvSpPr>
        <p:spPr>
          <a:xfrm>
            <a:off x="2057400" y="1188720"/>
            <a:ext cx="1325880" cy="3474720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shape171"/>
          <p:cNvSpPr/>
          <p:nvPr/>
        </p:nvSpPr>
        <p:spPr>
          <a:xfrm>
            <a:off x="2130552" y="1371600"/>
            <a:ext cx="1179576" cy="3108960"/>
          </a:xfrm>
          <a:prstGeom prst="roundRect">
            <a:avLst>
              <a:gd name="adj" fmla="val 775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172"/>
          <p:cNvSpPr/>
          <p:nvPr/>
        </p:nvSpPr>
        <p:spPr>
          <a:xfrm>
            <a:off x="2130552" y="1371600"/>
            <a:ext cx="1179576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173"/>
          <p:cNvSpPr txBox="1"/>
          <p:nvPr/>
        </p:nvSpPr>
        <p:spPr>
          <a:xfrm>
            <a:off x="2130552" y="137160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</a:t>
            </a:r>
            <a:endParaRPr lang="en-US" sz="1100" dirty="0"/>
          </a:p>
        </p:txBody>
      </p:sp>
      <p:sp>
        <p:nvSpPr>
          <p:cNvPr id="16" name="text174"/>
          <p:cNvSpPr txBox="1"/>
          <p:nvPr/>
        </p:nvSpPr>
        <p:spPr>
          <a:xfrm>
            <a:off x="2221992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Fix a misread field</a:t>
            </a:r>
            <a:endParaRPr lang="en-US" sz="900" dirty="0"/>
          </a:p>
        </p:txBody>
      </p:sp>
      <p:sp>
        <p:nvSpPr>
          <p:cNvPr id="17" name="shape175"/>
          <p:cNvSpPr/>
          <p:nvPr/>
        </p:nvSpPr>
        <p:spPr>
          <a:xfrm>
            <a:off x="2240280" y="256032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shape176"/>
          <p:cNvSpPr/>
          <p:nvPr/>
        </p:nvSpPr>
        <p:spPr>
          <a:xfrm>
            <a:off x="2240280" y="2971800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shape177"/>
          <p:cNvSpPr/>
          <p:nvPr/>
        </p:nvSpPr>
        <p:spPr>
          <a:xfrm>
            <a:off x="2240280" y="3840480"/>
            <a:ext cx="960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shape178"/>
          <p:cNvSpPr/>
          <p:nvPr/>
        </p:nvSpPr>
        <p:spPr>
          <a:xfrm>
            <a:off x="3566160" y="1188720"/>
            <a:ext cx="1325880" cy="3474720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shape179"/>
          <p:cNvSpPr/>
          <p:nvPr/>
        </p:nvSpPr>
        <p:spPr>
          <a:xfrm>
            <a:off x="3639312" y="1371600"/>
            <a:ext cx="1179576" cy="3108960"/>
          </a:xfrm>
          <a:prstGeom prst="roundRect">
            <a:avLst>
              <a:gd name="adj" fmla="val 775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shape180"/>
          <p:cNvSpPr/>
          <p:nvPr/>
        </p:nvSpPr>
        <p:spPr>
          <a:xfrm>
            <a:off x="3639312" y="1371600"/>
            <a:ext cx="1179576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3" name="text181"/>
          <p:cNvSpPr txBox="1"/>
          <p:nvPr/>
        </p:nvSpPr>
        <p:spPr>
          <a:xfrm>
            <a:off x="3639312" y="137160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Schedule</a:t>
            </a:r>
            <a:endParaRPr lang="en-US" sz="1100" dirty="0"/>
          </a:p>
        </p:txBody>
      </p:sp>
      <p:sp>
        <p:nvSpPr>
          <p:cNvPr id="24" name="text182"/>
          <p:cNvSpPr txBox="1"/>
          <p:nvPr/>
        </p:nvSpPr>
        <p:spPr>
          <a:xfrm>
            <a:off x="3730752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Daily dose cards</a:t>
            </a:r>
            <a:endParaRPr lang="en-US" sz="900" dirty="0"/>
          </a:p>
        </p:txBody>
      </p:sp>
      <p:sp>
        <p:nvSpPr>
          <p:cNvPr id="25" name="shape183"/>
          <p:cNvSpPr/>
          <p:nvPr/>
        </p:nvSpPr>
        <p:spPr>
          <a:xfrm>
            <a:off x="3749040" y="256032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shape184"/>
          <p:cNvSpPr/>
          <p:nvPr/>
        </p:nvSpPr>
        <p:spPr>
          <a:xfrm>
            <a:off x="3749040" y="2971800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185"/>
          <p:cNvSpPr/>
          <p:nvPr/>
        </p:nvSpPr>
        <p:spPr>
          <a:xfrm>
            <a:off x="3749040" y="3840480"/>
            <a:ext cx="96012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186"/>
          <p:cNvSpPr txBox="1"/>
          <p:nvPr/>
        </p:nvSpPr>
        <p:spPr>
          <a:xfrm>
            <a:off x="5303520" y="1188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LIVE DEMO SCENARIO</a:t>
            </a:r>
            <a:endParaRPr lang="en-US" sz="900" dirty="0"/>
          </a:p>
        </p:txBody>
      </p:sp>
      <p:sp>
        <p:nvSpPr>
          <p:cNvPr id="29" name="text187"/>
          <p:cNvSpPr txBox="1"/>
          <p:nvPr/>
        </p:nvSpPr>
        <p:spPr>
          <a:xfrm>
            <a:off x="5303520" y="1444752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chemeClr val="tx1"/>
                </a:solidFill>
              </a:rPr>
              <a:t>Scan a sample antibiotic prescription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chemeClr val="tx1"/>
                </a:solidFill>
              </a:rPr>
              <a:t>OCR extracts medicine and dose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chemeClr val="tx1"/>
                </a:solidFill>
              </a:rPr>
              <a:t>Correct one field (human check)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chemeClr val="tx1"/>
                </a:solidFill>
              </a:rPr>
              <a:t>Instructions in two languages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chemeClr val="tx1"/>
                </a:solidFill>
              </a:rPr>
              <a:t>Mark a dose missed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chemeClr val="tx1"/>
                </a:solidFill>
              </a:rPr>
              <a:t>Report a red-flag symptom, see urgent-help flow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chemeClr val="tx1"/>
                </a:solidFill>
              </a:rPr>
              <a:t>Open the anonymous AMR dashboard</a:t>
            </a:r>
            <a:endParaRPr lang="en-US" sz="1000" dirty="0"/>
          </a:p>
        </p:txBody>
      </p:sp>
      <p:sp>
        <p:nvSpPr>
          <p:cNvPr id="30" name="text188"/>
          <p:cNvSpPr txBox="1"/>
          <p:nvPr/>
        </p:nvSpPr>
        <p:spPr>
          <a:xfrm>
            <a:off x="530352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MAIN FEATURES</a:t>
            </a:r>
            <a:endParaRPr lang="en-US" sz="900" dirty="0"/>
          </a:p>
        </p:txBody>
      </p:sp>
      <p:sp>
        <p:nvSpPr>
          <p:cNvPr id="31" name="text189"/>
          <p:cNvSpPr txBox="1"/>
          <p:nvPr/>
        </p:nvSpPr>
        <p:spPr>
          <a:xfrm>
            <a:off x="530352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Prescription scan, editable review, multilingual voice, dose tracker, red-flag triage, AMR dashboard</a:t>
            </a:r>
            <a:endParaRPr lang="en-US" sz="1000" dirty="0"/>
          </a:p>
        </p:txBody>
      </p:sp>
      <p:sp>
        <p:nvSpPr>
          <p:cNvPr id="32" name="shape190"/>
          <p:cNvSpPr/>
          <p:nvPr/>
        </p:nvSpPr>
        <p:spPr>
          <a:xfrm>
            <a:off x="5303520" y="3931920"/>
            <a:ext cx="73152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3" name="text191"/>
          <p:cNvSpPr txBox="1"/>
          <p:nvPr/>
        </p:nvSpPr>
        <p:spPr>
          <a:xfrm>
            <a:off x="530352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QR</a:t>
            </a:r>
            <a:endParaRPr lang="en-US" sz="1600" dirty="0"/>
          </a:p>
        </p:txBody>
      </p:sp>
      <p:sp>
        <p:nvSpPr>
          <p:cNvPr id="34" name="text192"/>
          <p:cNvSpPr txBox="1"/>
          <p:nvPr/>
        </p:nvSpPr>
        <p:spPr>
          <a:xfrm>
            <a:off x="6217920" y="3931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Scan the QR code to open the live prototype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 a reminder app. A safety net.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INNOVATION AND USP</a:t>
            </a:r>
            <a:endParaRPr lang="en-US" sz="900" dirty="0"/>
          </a:p>
        </p:txBody>
      </p:sp>
      <p:sp>
        <p:nvSpPr>
          <p:cNvPr id="4" name="shape193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194"/>
          <p:cNvSpPr txBox="1"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What is unique?  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The first and last mile of antibiotic safety in one system, from understanding the prescription to finishing the course.</a:t>
            </a:r>
            <a:endParaRPr lang="en-US" sz="1050" dirty="0"/>
          </a:p>
        </p:txBody>
      </p:sp>
      <p:sp>
        <p:nvSpPr>
          <p:cNvPr id="6" name="text195"/>
          <p:cNvSpPr txBox="1"/>
          <p:nvPr/>
        </p:nvSpPr>
        <p:spPr>
          <a:xfrm>
            <a:off x="685800" y="18470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tx2"/>
                </a:solidFill>
              </a:rPr>
              <a:t>EXISTING SOLUTIONS</a:t>
            </a:r>
            <a:endParaRPr lang="en-US" sz="900" dirty="0"/>
          </a:p>
        </p:txBody>
      </p:sp>
      <p:sp>
        <p:nvSpPr>
          <p:cNvPr id="7" name="text196"/>
          <p:cNvSpPr txBox="1"/>
          <p:nvPr/>
        </p:nvSpPr>
        <p:spPr>
          <a:xfrm>
            <a:off x="5074920" y="18470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WHY RXSHIELD IS BETTER AND DIFFERENT</a:t>
            </a:r>
            <a:endParaRPr lang="en-US" sz="900" dirty="0"/>
          </a:p>
        </p:txBody>
      </p:sp>
      <p:sp>
        <p:nvSpPr>
          <p:cNvPr id="8" name="shape197"/>
          <p:cNvSpPr/>
          <p:nvPr/>
        </p:nvSpPr>
        <p:spPr>
          <a:xfrm>
            <a:off x="457200" y="2121408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shape198"/>
          <p:cNvSpPr/>
          <p:nvPr/>
        </p:nvSpPr>
        <p:spPr>
          <a:xfrm>
            <a:off x="4846320" y="2121408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199"/>
          <p:cNvSpPr txBox="1"/>
          <p:nvPr/>
        </p:nvSpPr>
        <p:spPr>
          <a:xfrm>
            <a:off x="685800" y="21214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Manual medicine entry</a:t>
            </a:r>
            <a:endParaRPr lang="en-US" sz="1000" dirty="0"/>
          </a:p>
        </p:txBody>
      </p:sp>
      <p:sp>
        <p:nvSpPr>
          <p:cNvPr id="11" name="text200"/>
          <p:cNvSpPr txBox="1"/>
          <p:nvPr/>
        </p:nvSpPr>
        <p:spPr>
          <a:xfrm>
            <a:off x="5074920" y="21214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Prescription and strip scanning</a:t>
            </a:r>
            <a:endParaRPr lang="en-US" sz="1000" dirty="0"/>
          </a:p>
        </p:txBody>
      </p:sp>
      <p:sp>
        <p:nvSpPr>
          <p:cNvPr id="12" name="text201"/>
          <p:cNvSpPr txBox="1"/>
          <p:nvPr/>
        </p:nvSpPr>
        <p:spPr>
          <a:xfrm>
            <a:off x="4389120" y="21214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&gt;</a:t>
            </a:r>
            <a:endParaRPr lang="en-US" sz="1400" dirty="0"/>
          </a:p>
        </p:txBody>
      </p:sp>
      <p:sp>
        <p:nvSpPr>
          <p:cNvPr id="13" name="shape202"/>
          <p:cNvSpPr/>
          <p:nvPr/>
        </p:nvSpPr>
        <p:spPr>
          <a:xfrm>
            <a:off x="457200" y="2505456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shape203"/>
          <p:cNvSpPr/>
          <p:nvPr/>
        </p:nvSpPr>
        <p:spPr>
          <a:xfrm>
            <a:off x="4846320" y="2505456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204"/>
          <p:cNvSpPr txBox="1"/>
          <p:nvPr/>
        </p:nvSpPr>
        <p:spPr>
          <a:xfrm>
            <a:off x="685800" y="25054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Alarm-only reminders</a:t>
            </a:r>
            <a:endParaRPr lang="en-US" sz="1000" dirty="0"/>
          </a:p>
        </p:txBody>
      </p:sp>
      <p:sp>
        <p:nvSpPr>
          <p:cNvPr id="16" name="text205"/>
          <p:cNvSpPr txBox="1"/>
          <p:nvPr/>
        </p:nvSpPr>
        <p:spPr>
          <a:xfrm>
            <a:off x="5074920" y="25054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Full treatment-course companion</a:t>
            </a:r>
            <a:endParaRPr lang="en-US" sz="1000" dirty="0"/>
          </a:p>
        </p:txBody>
      </p:sp>
      <p:sp>
        <p:nvSpPr>
          <p:cNvPr id="17" name="text206"/>
          <p:cNvSpPr txBox="1"/>
          <p:nvPr/>
        </p:nvSpPr>
        <p:spPr>
          <a:xfrm>
            <a:off x="4389120" y="250545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&gt;</a:t>
            </a:r>
            <a:endParaRPr lang="en-US" sz="1400" dirty="0"/>
          </a:p>
        </p:txBody>
      </p:sp>
      <p:sp>
        <p:nvSpPr>
          <p:cNvPr id="18" name="shape207"/>
          <p:cNvSpPr/>
          <p:nvPr/>
        </p:nvSpPr>
        <p:spPr>
          <a:xfrm>
            <a:off x="457200" y="2889504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shape208"/>
          <p:cNvSpPr/>
          <p:nvPr/>
        </p:nvSpPr>
        <p:spPr>
          <a:xfrm>
            <a:off x="4846320" y="2889504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text209"/>
          <p:cNvSpPr txBox="1"/>
          <p:nvPr/>
        </p:nvSpPr>
        <p:spPr>
          <a:xfrm>
            <a:off x="685800" y="28895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Technical drug information</a:t>
            </a:r>
            <a:endParaRPr lang="en-US" sz="1000" dirty="0"/>
          </a:p>
        </p:txBody>
      </p:sp>
      <p:sp>
        <p:nvSpPr>
          <p:cNvPr id="21" name="text210"/>
          <p:cNvSpPr txBox="1"/>
          <p:nvPr/>
        </p:nvSpPr>
        <p:spPr>
          <a:xfrm>
            <a:off x="5074920" y="28895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Simple multilingual explanations</a:t>
            </a:r>
            <a:endParaRPr lang="en-US" sz="1000" dirty="0"/>
          </a:p>
        </p:txBody>
      </p:sp>
      <p:sp>
        <p:nvSpPr>
          <p:cNvPr id="22" name="text211"/>
          <p:cNvSpPr txBox="1"/>
          <p:nvPr/>
        </p:nvSpPr>
        <p:spPr>
          <a:xfrm>
            <a:off x="4389120" y="288950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&gt;</a:t>
            </a:r>
            <a:endParaRPr lang="en-US" sz="1400" dirty="0"/>
          </a:p>
        </p:txBody>
      </p:sp>
      <p:sp>
        <p:nvSpPr>
          <p:cNvPr id="23" name="shape212"/>
          <p:cNvSpPr/>
          <p:nvPr/>
        </p:nvSpPr>
        <p:spPr>
          <a:xfrm>
            <a:off x="457200" y="3273552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shape213"/>
          <p:cNvSpPr/>
          <p:nvPr/>
        </p:nvSpPr>
        <p:spPr>
          <a:xfrm>
            <a:off x="4846320" y="3273552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5" name="text214"/>
          <p:cNvSpPr txBox="1"/>
          <p:nvPr/>
        </p:nvSpPr>
        <p:spPr>
          <a:xfrm>
            <a:off x="685800" y="32735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Internet dependent</a:t>
            </a:r>
            <a:endParaRPr lang="en-US" sz="1000" dirty="0"/>
          </a:p>
        </p:txBody>
      </p:sp>
      <p:sp>
        <p:nvSpPr>
          <p:cNvPr id="26" name="text215"/>
          <p:cNvSpPr txBox="1"/>
          <p:nvPr/>
        </p:nvSpPr>
        <p:spPr>
          <a:xfrm>
            <a:off x="5074920" y="32735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Core reminders work offline</a:t>
            </a:r>
            <a:endParaRPr lang="en-US" sz="1000" dirty="0"/>
          </a:p>
        </p:txBody>
      </p:sp>
      <p:sp>
        <p:nvSpPr>
          <p:cNvPr id="27" name="text216"/>
          <p:cNvSpPr txBox="1"/>
          <p:nvPr/>
        </p:nvSpPr>
        <p:spPr>
          <a:xfrm>
            <a:off x="4389120" y="32735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&gt;</a:t>
            </a:r>
            <a:endParaRPr lang="en-US" sz="1400" dirty="0"/>
          </a:p>
        </p:txBody>
      </p:sp>
      <p:sp>
        <p:nvSpPr>
          <p:cNvPr id="28" name="shape217"/>
          <p:cNvSpPr/>
          <p:nvPr/>
        </p:nvSpPr>
        <p:spPr>
          <a:xfrm>
            <a:off x="457200" y="3657600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shape218"/>
          <p:cNvSpPr/>
          <p:nvPr/>
        </p:nvSpPr>
        <p:spPr>
          <a:xfrm>
            <a:off x="4846320" y="3657600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0" name="text219"/>
          <p:cNvSpPr txBox="1"/>
          <p:nvPr/>
        </p:nvSpPr>
        <p:spPr>
          <a:xfrm>
            <a:off x="685800" y="3657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Unrestricted chatbot answers</a:t>
            </a:r>
            <a:endParaRPr lang="en-US" sz="1000" dirty="0"/>
          </a:p>
        </p:txBody>
      </p:sp>
      <p:sp>
        <p:nvSpPr>
          <p:cNvPr id="31" name="text220"/>
          <p:cNvSpPr txBox="1"/>
          <p:nvPr/>
        </p:nvSpPr>
        <p:spPr>
          <a:xfrm>
            <a:off x="5074920" y="3657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Verified retrieval + safety rules</a:t>
            </a:r>
            <a:endParaRPr lang="en-US" sz="1000" dirty="0"/>
          </a:p>
        </p:txBody>
      </p:sp>
      <p:sp>
        <p:nvSpPr>
          <p:cNvPr id="32" name="text221"/>
          <p:cNvSpPr txBox="1"/>
          <p:nvPr/>
        </p:nvSpPr>
        <p:spPr>
          <a:xfrm>
            <a:off x="4389120" y="36576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&gt;</a:t>
            </a:r>
            <a:endParaRPr lang="en-US" sz="1400" dirty="0"/>
          </a:p>
        </p:txBody>
      </p:sp>
      <p:sp>
        <p:nvSpPr>
          <p:cNvPr id="33" name="shape222"/>
          <p:cNvSpPr/>
          <p:nvPr/>
        </p:nvSpPr>
        <p:spPr>
          <a:xfrm>
            <a:off x="457200" y="4041648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shape223"/>
          <p:cNvSpPr/>
          <p:nvPr/>
        </p:nvSpPr>
        <p:spPr>
          <a:xfrm>
            <a:off x="4846320" y="4041648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5" name="text224"/>
          <p:cNvSpPr txBox="1"/>
          <p:nvPr/>
        </p:nvSpPr>
        <p:spPr>
          <a:xfrm>
            <a:off x="685800" y="40416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No escalation pathway</a:t>
            </a:r>
            <a:endParaRPr lang="en-US" sz="1000" dirty="0"/>
          </a:p>
        </p:txBody>
      </p:sp>
      <p:sp>
        <p:nvSpPr>
          <p:cNvPr id="36" name="text225"/>
          <p:cNvSpPr txBox="1"/>
          <p:nvPr/>
        </p:nvSpPr>
        <p:spPr>
          <a:xfrm>
            <a:off x="5074920" y="40416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Pharmacist and doctor referral</a:t>
            </a:r>
            <a:endParaRPr lang="en-US" sz="1000" dirty="0"/>
          </a:p>
        </p:txBody>
      </p:sp>
      <p:sp>
        <p:nvSpPr>
          <p:cNvPr id="37" name="text226"/>
          <p:cNvSpPr txBox="1"/>
          <p:nvPr/>
        </p:nvSpPr>
        <p:spPr>
          <a:xfrm>
            <a:off x="4389120" y="40416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&gt;</a:t>
            </a:r>
            <a:endParaRPr lang="en-US" sz="1400" dirty="0"/>
          </a:p>
        </p:txBody>
      </p:sp>
      <p:sp>
        <p:nvSpPr>
          <p:cNvPr id="38" name="shape227"/>
          <p:cNvSpPr/>
          <p:nvPr/>
        </p:nvSpPr>
        <p:spPr>
          <a:xfrm>
            <a:off x="457200" y="4425696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shape228"/>
          <p:cNvSpPr/>
          <p:nvPr/>
        </p:nvSpPr>
        <p:spPr>
          <a:xfrm>
            <a:off x="4846320" y="4425696"/>
            <a:ext cx="38404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0" name="text229"/>
          <p:cNvSpPr txBox="1"/>
          <p:nvPr/>
        </p:nvSpPr>
        <p:spPr>
          <a:xfrm>
            <a:off x="685800" y="44256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Centralized health reports</a:t>
            </a:r>
            <a:endParaRPr lang="en-US" sz="1000" dirty="0"/>
          </a:p>
        </p:txBody>
      </p:sp>
      <p:sp>
        <p:nvSpPr>
          <p:cNvPr id="41" name="text230"/>
          <p:cNvSpPr txBox="1"/>
          <p:nvPr/>
        </p:nvSpPr>
        <p:spPr>
          <a:xfrm>
            <a:off x="5074920" y="44256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Privacy-preserving aggregated insight</a:t>
            </a:r>
            <a:endParaRPr lang="en-US" sz="1000" dirty="0"/>
          </a:p>
        </p:txBody>
      </p:sp>
      <p:sp>
        <p:nvSpPr>
          <p:cNvPr id="42" name="text231"/>
          <p:cNvSpPr txBox="1"/>
          <p:nvPr/>
        </p:nvSpPr>
        <p:spPr>
          <a:xfrm>
            <a:off x="4389120" y="44256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Targets for a three-month pilot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IMPACT</a:t>
            </a:r>
            <a:endParaRPr lang="en-US" sz="900" dirty="0"/>
          </a:p>
        </p:txBody>
      </p:sp>
      <p:sp>
        <p:nvSpPr>
          <p:cNvPr id="4" name="text232"/>
          <p:cNvSpPr txBox="1"/>
          <p:nvPr/>
        </p:nvSpPr>
        <p:spPr>
          <a:xfrm>
            <a:off x="548640" y="1143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EXPECTED MEASURABLE IMPACT</a:t>
            </a:r>
            <a:endParaRPr lang="en-US" sz="900" dirty="0"/>
          </a:p>
        </p:txBody>
      </p:sp>
      <p:sp>
        <p:nvSpPr>
          <p:cNvPr id="5" name="ring233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234"/>
          <p:cNvSpPr txBox="1"/>
          <p:nvPr/>
        </p:nvSpPr>
        <p:spPr>
          <a:xfrm>
            <a:off x="640080" y="1664208"/>
            <a:ext cx="1371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500</a:t>
            </a:r>
            <a:endParaRPr lang="en-US" sz="2000" dirty="0"/>
          </a:p>
        </p:txBody>
      </p:sp>
      <p:sp>
        <p:nvSpPr>
          <p:cNvPr id="7" name="text235"/>
          <p:cNvSpPr txBox="1"/>
          <p:nvPr/>
        </p:nvSpPr>
        <p:spPr>
          <a:xfrm>
            <a:off x="804672" y="2171700"/>
            <a:ext cx="10424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enrolled users</a:t>
            </a:r>
            <a:endParaRPr lang="en-US" sz="850" dirty="0"/>
          </a:p>
        </p:txBody>
      </p:sp>
      <p:sp>
        <p:nvSpPr>
          <p:cNvPr id="8" name="ring236"/>
          <p:cNvSpPr/>
          <p:nvPr/>
        </p:nvSpPr>
        <p:spPr>
          <a:xfrm>
            <a:off x="2423160" y="1417320"/>
            <a:ext cx="1371600" cy="137160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9" name="text237"/>
          <p:cNvSpPr txBox="1"/>
          <p:nvPr/>
        </p:nvSpPr>
        <p:spPr>
          <a:xfrm>
            <a:off x="2423160" y="1664208"/>
            <a:ext cx="1371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80%</a:t>
            </a:r>
            <a:endParaRPr lang="en-US" sz="2000" dirty="0"/>
          </a:p>
        </p:txBody>
      </p:sp>
      <p:sp>
        <p:nvSpPr>
          <p:cNvPr id="10" name="text238"/>
          <p:cNvSpPr txBox="1"/>
          <p:nvPr/>
        </p:nvSpPr>
        <p:spPr>
          <a:xfrm>
            <a:off x="2587752" y="2171700"/>
            <a:ext cx="10424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extraction accuracy after confirmation</a:t>
            </a:r>
            <a:endParaRPr lang="en-US" sz="850" dirty="0"/>
          </a:p>
        </p:txBody>
      </p:sp>
      <p:sp>
        <p:nvSpPr>
          <p:cNvPr id="11" name="ring239"/>
          <p:cNvSpPr/>
          <p:nvPr/>
        </p:nvSpPr>
        <p:spPr>
          <a:xfrm>
            <a:off x="4206240" y="1417320"/>
            <a:ext cx="1371600" cy="137160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2" name="text240"/>
          <p:cNvSpPr txBox="1"/>
          <p:nvPr/>
        </p:nvSpPr>
        <p:spPr>
          <a:xfrm>
            <a:off x="4206240" y="1664208"/>
            <a:ext cx="1371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+25%</a:t>
            </a:r>
            <a:endParaRPr lang="en-US" sz="2000" dirty="0"/>
          </a:p>
        </p:txBody>
      </p:sp>
      <p:sp>
        <p:nvSpPr>
          <p:cNvPr id="13" name="text241"/>
          <p:cNvSpPr txBox="1"/>
          <p:nvPr/>
        </p:nvSpPr>
        <p:spPr>
          <a:xfrm>
            <a:off x="4370832" y="2171700"/>
            <a:ext cx="10424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on-time dose adherence</a:t>
            </a:r>
            <a:endParaRPr lang="en-US" sz="850" dirty="0"/>
          </a:p>
        </p:txBody>
      </p:sp>
      <p:sp>
        <p:nvSpPr>
          <p:cNvPr id="14" name="ring242"/>
          <p:cNvSpPr/>
          <p:nvPr/>
        </p:nvSpPr>
        <p:spPr>
          <a:xfrm>
            <a:off x="640080" y="2926080"/>
            <a:ext cx="1371600" cy="137160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5" name="text243"/>
          <p:cNvSpPr txBox="1"/>
          <p:nvPr/>
        </p:nvSpPr>
        <p:spPr>
          <a:xfrm>
            <a:off x="640080" y="3172968"/>
            <a:ext cx="1371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+20%</a:t>
            </a:r>
            <a:endParaRPr lang="en-US" sz="2000" dirty="0"/>
          </a:p>
        </p:txBody>
      </p:sp>
      <p:sp>
        <p:nvSpPr>
          <p:cNvPr id="16" name="text244"/>
          <p:cNvSpPr txBox="1"/>
          <p:nvPr/>
        </p:nvSpPr>
        <p:spPr>
          <a:xfrm>
            <a:off x="804672" y="3680460"/>
            <a:ext cx="10424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prescription comprehension</a:t>
            </a:r>
            <a:endParaRPr lang="en-US" sz="850" dirty="0"/>
          </a:p>
        </p:txBody>
      </p:sp>
      <p:sp>
        <p:nvSpPr>
          <p:cNvPr id="17" name="ring245"/>
          <p:cNvSpPr/>
          <p:nvPr/>
        </p:nvSpPr>
        <p:spPr>
          <a:xfrm>
            <a:off x="2423160" y="2926080"/>
            <a:ext cx="1371600" cy="137160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8" name="text246"/>
          <p:cNvSpPr txBox="1"/>
          <p:nvPr/>
        </p:nvSpPr>
        <p:spPr>
          <a:xfrm>
            <a:off x="2423160" y="3172968"/>
            <a:ext cx="1371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90%</a:t>
            </a:r>
            <a:endParaRPr lang="en-US" sz="2000" dirty="0"/>
          </a:p>
        </p:txBody>
      </p:sp>
      <p:sp>
        <p:nvSpPr>
          <p:cNvPr id="19" name="text247"/>
          <p:cNvSpPr txBox="1"/>
          <p:nvPr/>
        </p:nvSpPr>
        <p:spPr>
          <a:xfrm>
            <a:off x="2587752" y="3680460"/>
            <a:ext cx="10424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offline / SMS reminder delivery</a:t>
            </a:r>
            <a:endParaRPr lang="en-US" sz="850" dirty="0"/>
          </a:p>
        </p:txBody>
      </p:sp>
      <p:sp>
        <p:nvSpPr>
          <p:cNvPr id="20" name="ring248"/>
          <p:cNvSpPr/>
          <p:nvPr/>
        </p:nvSpPr>
        <p:spPr>
          <a:xfrm>
            <a:off x="4206240" y="2926080"/>
            <a:ext cx="1371600" cy="137160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1" name="text249"/>
          <p:cNvSpPr txBox="1"/>
          <p:nvPr/>
        </p:nvSpPr>
        <p:spPr>
          <a:xfrm>
            <a:off x="4206240" y="3172968"/>
            <a:ext cx="1371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100%</a:t>
            </a:r>
            <a:endParaRPr lang="en-US" sz="2000" dirty="0"/>
          </a:p>
        </p:txBody>
      </p:sp>
      <p:sp>
        <p:nvSpPr>
          <p:cNvPr id="22" name="text250"/>
          <p:cNvSpPr txBox="1"/>
          <p:nvPr/>
        </p:nvSpPr>
        <p:spPr>
          <a:xfrm>
            <a:off x="4370832" y="3680460"/>
            <a:ext cx="10424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red-flag symptom escalation</a:t>
            </a:r>
            <a:endParaRPr lang="en-US" sz="850" dirty="0"/>
          </a:p>
        </p:txBody>
      </p:sp>
      <p:sp>
        <p:nvSpPr>
          <p:cNvPr id="23" name="shape251"/>
          <p:cNvSpPr/>
          <p:nvPr/>
        </p:nvSpPr>
        <p:spPr>
          <a:xfrm>
            <a:off x="6035040" y="11430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252"/>
          <p:cNvSpPr txBox="1"/>
          <p:nvPr/>
        </p:nvSpPr>
        <p:spPr>
          <a:xfrm>
            <a:off x="6217920" y="1280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WHO BENEFITS</a:t>
            </a:r>
            <a:endParaRPr lang="en-US" sz="900" dirty="0"/>
          </a:p>
        </p:txBody>
      </p:sp>
      <p:sp>
        <p:nvSpPr>
          <p:cNvPr id="25" name="text253"/>
          <p:cNvSpPr txBox="1"/>
          <p:nvPr/>
        </p:nvSpPr>
        <p:spPr>
          <a:xfrm>
            <a:off x="6217920" y="15544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Patients, caregivers, older adults, rural communities, pharmacists, doctors, community health workers, public-health departments</a:t>
            </a:r>
            <a:endParaRPr lang="en-US" sz="950" dirty="0"/>
          </a:p>
        </p:txBody>
      </p:sp>
      <p:sp>
        <p:nvSpPr>
          <p:cNvPr id="26" name="shape254"/>
          <p:cNvSpPr/>
          <p:nvPr/>
        </p:nvSpPr>
        <p:spPr>
          <a:xfrm>
            <a:off x="603504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255"/>
          <p:cNvSpPr txBox="1"/>
          <p:nvPr/>
        </p:nvSpPr>
        <p:spPr>
          <a:xfrm>
            <a:off x="6217920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CONTRIBUTION TO SDG 3</a:t>
            </a:r>
            <a:endParaRPr lang="en-US" sz="900" dirty="0"/>
          </a:p>
        </p:txBody>
      </p:sp>
      <p:sp>
        <p:nvSpPr>
          <p:cNvPr id="28" name="text256"/>
          <p:cNvSpPr txBox="1"/>
          <p:nvPr/>
        </p:nvSpPr>
        <p:spPr>
          <a:xfrm>
            <a:off x="6217920" y="32918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Safer medicine use, better adherence, fewer errors, early risk detection, responsible antibiotic use</a:t>
            </a:r>
            <a:endParaRPr lang="en-US" sz="950" dirty="0"/>
          </a:p>
        </p:txBody>
      </p:sp>
      <p:sp>
        <p:nvSpPr>
          <p:cNvPr id="29" name="text257"/>
          <p:cNvSpPr txBox="1"/>
          <p:nvPr/>
        </p:nvSpPr>
        <p:spPr>
          <a:xfrm>
            <a:off x="640080" y="4526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Pilot goals, not guaranteed results.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Low cost today. Regional scale tomorrow.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FEASIBILITY AND SCALABILITY</a:t>
            </a:r>
            <a:endParaRPr lang="en-US" sz="900" dirty="0"/>
          </a:p>
        </p:txBody>
      </p:sp>
      <p:sp>
        <p:nvSpPr>
          <p:cNvPr id="4" name="text258"/>
          <p:cNvSpPr txBox="1"/>
          <p:nvPr/>
        </p:nvSpPr>
        <p:spPr>
          <a:xfrm>
            <a:off x="457200" y="1143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DEPLOYMENT PLAN</a:t>
            </a:r>
            <a:endParaRPr lang="en-US" sz="900" dirty="0"/>
          </a:p>
        </p:txBody>
      </p:sp>
      <p:sp>
        <p:nvSpPr>
          <p:cNvPr id="5" name="shape259"/>
          <p:cNvSpPr/>
          <p:nvPr/>
        </p:nvSpPr>
        <p:spPr>
          <a:xfrm>
            <a:off x="822960" y="1627632"/>
            <a:ext cx="7498080" cy="54864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phase260"/>
          <p:cNvSpPr/>
          <p:nvPr/>
        </p:nvSpPr>
        <p:spPr>
          <a:xfrm>
            <a:off x="1188720" y="1444752"/>
            <a:ext cx="411480" cy="4114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7" name="text261"/>
          <p:cNvSpPr txBox="1"/>
          <p:nvPr/>
        </p:nvSpPr>
        <p:spPr>
          <a:xfrm>
            <a:off x="45720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 1: Working prototype</a:t>
            </a:r>
            <a:endParaRPr lang="en-US" sz="1000" dirty="0"/>
          </a:p>
        </p:txBody>
      </p:sp>
      <p:sp>
        <p:nvSpPr>
          <p:cNvPr id="8" name="text262"/>
          <p:cNvSpPr txBox="1"/>
          <p:nvPr/>
        </p:nvSpPr>
        <p:spPr>
          <a:xfrm>
            <a:off x="548640" y="2176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One language + English, limited verified antibiotic list</a:t>
            </a:r>
            <a:endParaRPr lang="en-US" sz="900" dirty="0"/>
          </a:p>
        </p:txBody>
      </p:sp>
      <p:sp>
        <p:nvSpPr>
          <p:cNvPr id="9" name="phase263"/>
          <p:cNvSpPr/>
          <p:nvPr/>
        </p:nvSpPr>
        <p:spPr>
          <a:xfrm>
            <a:off x="3291840" y="1444752"/>
            <a:ext cx="411480" cy="4114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0" name="text264"/>
          <p:cNvSpPr txBox="1"/>
          <p:nvPr/>
        </p:nvSpPr>
        <p:spPr>
          <a:xfrm>
            <a:off x="256032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 2: Controlled pilot</a:t>
            </a:r>
            <a:endParaRPr lang="en-US" sz="1000" dirty="0"/>
          </a:p>
        </p:txBody>
      </p:sp>
      <p:sp>
        <p:nvSpPr>
          <p:cNvPr id="11" name="text265"/>
          <p:cNvSpPr txBox="1"/>
          <p:nvPr/>
        </p:nvSpPr>
        <p:spPr>
          <a:xfrm>
            <a:off x="2651760" y="2176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One clinic or pharmacy, local languages</a:t>
            </a:r>
            <a:endParaRPr lang="en-US" sz="900" dirty="0"/>
          </a:p>
        </p:txBody>
      </p:sp>
      <p:sp>
        <p:nvSpPr>
          <p:cNvPr id="12" name="phase266"/>
          <p:cNvSpPr/>
          <p:nvPr/>
        </p:nvSpPr>
        <p:spPr>
          <a:xfrm>
            <a:off x="5394960" y="1444752"/>
            <a:ext cx="411480" cy="4114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3" name="text267"/>
          <p:cNvSpPr txBox="1"/>
          <p:nvPr/>
        </p:nvSpPr>
        <p:spPr>
          <a:xfrm>
            <a:off x="466344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 3: Regional expansion</a:t>
            </a:r>
            <a:endParaRPr lang="en-US" sz="1000" dirty="0"/>
          </a:p>
        </p:txBody>
      </p:sp>
      <p:sp>
        <p:nvSpPr>
          <p:cNvPr id="14" name="text268"/>
          <p:cNvSpPr txBox="1"/>
          <p:nvPr/>
        </p:nvSpPr>
        <p:spPr>
          <a:xfrm>
            <a:off x="4754880" y="2176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More clinics, CHW accounts, broader databases</a:t>
            </a:r>
            <a:endParaRPr lang="en-US" sz="900" dirty="0"/>
          </a:p>
        </p:txBody>
      </p:sp>
      <p:sp>
        <p:nvSpPr>
          <p:cNvPr id="15" name="phase269"/>
          <p:cNvSpPr/>
          <p:nvPr/>
        </p:nvSpPr>
        <p:spPr>
          <a:xfrm>
            <a:off x="7498080" y="1444752"/>
            <a:ext cx="411480" cy="4114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6" name="text270"/>
          <p:cNvSpPr txBox="1"/>
          <p:nvPr/>
        </p:nvSpPr>
        <p:spPr>
          <a:xfrm>
            <a:off x="676656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Phase 4: Public-health link</a:t>
            </a:r>
            <a:endParaRPr lang="en-US" sz="1000" dirty="0"/>
          </a:p>
        </p:txBody>
      </p:sp>
      <p:sp>
        <p:nvSpPr>
          <p:cNvPr id="17" name="text271"/>
          <p:cNvSpPr txBox="1"/>
          <p:nvPr/>
        </p:nvSpPr>
        <p:spPr>
          <a:xfrm>
            <a:off x="6858000" y="2176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Approved anonymous metrics to authorities</a:t>
            </a:r>
            <a:endParaRPr lang="en-US" sz="900" dirty="0"/>
          </a:p>
        </p:txBody>
      </p:sp>
      <p:sp>
        <p:nvSpPr>
          <p:cNvPr id="18" name="shape272"/>
          <p:cNvSpPr/>
          <p:nvPr/>
        </p:nvSpPr>
        <p:spPr>
          <a:xfrm>
            <a:off x="457200" y="269748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shape273"/>
          <p:cNvSpPr/>
          <p:nvPr/>
        </p:nvSpPr>
        <p:spPr>
          <a:xfrm>
            <a:off x="621792" y="283464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ext274"/>
          <p:cNvSpPr txBox="1"/>
          <p:nvPr/>
        </p:nvSpPr>
        <p:spPr>
          <a:xfrm>
            <a:off x="621792" y="29718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Cost</a:t>
            </a:r>
            <a:endParaRPr lang="en-US" sz="1100" dirty="0"/>
          </a:p>
        </p:txBody>
      </p:sp>
      <p:sp>
        <p:nvSpPr>
          <p:cNvPr id="21" name="text275"/>
          <p:cNvSpPr txBox="1"/>
          <p:nvPr/>
        </p:nvSpPr>
        <p:spPr>
          <a:xfrm>
            <a:off x="621792" y="326440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Open-source stack, free tiers, low-cost hosting</a:t>
            </a:r>
            <a:endParaRPr lang="en-US" sz="900" dirty="0"/>
          </a:p>
        </p:txBody>
      </p:sp>
      <p:sp>
        <p:nvSpPr>
          <p:cNvPr id="22" name="shape276"/>
          <p:cNvSpPr/>
          <p:nvPr/>
        </p:nvSpPr>
        <p:spPr>
          <a:xfrm>
            <a:off x="3246120" y="269748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shape277"/>
          <p:cNvSpPr/>
          <p:nvPr/>
        </p:nvSpPr>
        <p:spPr>
          <a:xfrm>
            <a:off x="3410712" y="283464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278"/>
          <p:cNvSpPr txBox="1"/>
          <p:nvPr/>
        </p:nvSpPr>
        <p:spPr>
          <a:xfrm>
            <a:off x="3410712" y="29718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Practicality</a:t>
            </a:r>
            <a:endParaRPr lang="en-US" sz="1100" dirty="0"/>
          </a:p>
        </p:txBody>
      </p:sp>
      <p:sp>
        <p:nvSpPr>
          <p:cNvPr id="25" name="text279"/>
          <p:cNvSpPr txBox="1"/>
          <p:nvPr/>
        </p:nvSpPr>
        <p:spPr>
          <a:xfrm>
            <a:off x="3410712" y="326440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Phone camera, offline reminders, SMS fallback</a:t>
            </a:r>
            <a:endParaRPr lang="en-US" sz="900" dirty="0"/>
          </a:p>
        </p:txBody>
      </p:sp>
      <p:sp>
        <p:nvSpPr>
          <p:cNvPr id="26" name="shape280"/>
          <p:cNvSpPr/>
          <p:nvPr/>
        </p:nvSpPr>
        <p:spPr>
          <a:xfrm>
            <a:off x="6035040" y="269748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281"/>
          <p:cNvSpPr/>
          <p:nvPr/>
        </p:nvSpPr>
        <p:spPr>
          <a:xfrm>
            <a:off x="6199632" y="2834640"/>
            <a:ext cx="457200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282"/>
          <p:cNvSpPr txBox="1"/>
          <p:nvPr/>
        </p:nvSpPr>
        <p:spPr>
          <a:xfrm>
            <a:off x="6199632" y="29718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9" name="text283"/>
          <p:cNvSpPr txBox="1"/>
          <p:nvPr/>
        </p:nvSpPr>
        <p:spPr>
          <a:xfrm>
            <a:off x="6199632" y="326440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Add languages, clinics and regions on one platform</a:t>
            </a:r>
            <a:endParaRPr lang="en-US" sz="900" dirty="0"/>
          </a:p>
        </p:txBody>
      </p:sp>
      <p:sp>
        <p:nvSpPr>
          <p:cNvPr id="30" name="text284"/>
          <p:cNvSpPr txBox="1"/>
          <p:nvPr/>
        </p:nvSpPr>
        <p:spPr>
          <a:xfrm>
            <a:off x="457200" y="3639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CHALLENGES AND MITIGATION</a:t>
            </a:r>
            <a:endParaRPr lang="en-US" sz="900" dirty="0"/>
          </a:p>
        </p:txBody>
      </p:sp>
      <p:sp>
        <p:nvSpPr>
          <p:cNvPr id="31" name="shape285"/>
          <p:cNvSpPr/>
          <p:nvPr/>
        </p:nvSpPr>
        <p:spPr>
          <a:xfrm>
            <a:off x="457200" y="3886200"/>
            <a:ext cx="2651760" cy="402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286"/>
          <p:cNvSpPr txBox="1"/>
          <p:nvPr/>
        </p:nvSpPr>
        <p:spPr>
          <a:xfrm>
            <a:off x="640080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Poor handwriting: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Confirm every field</a:t>
            </a:r>
            <a:endParaRPr lang="en-US" sz="900" dirty="0"/>
          </a:p>
        </p:txBody>
      </p:sp>
      <p:sp>
        <p:nvSpPr>
          <p:cNvPr id="33" name="shape287"/>
          <p:cNvSpPr/>
          <p:nvPr/>
        </p:nvSpPr>
        <p:spPr>
          <a:xfrm>
            <a:off x="3246120" y="3886200"/>
            <a:ext cx="2651760" cy="402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text288"/>
          <p:cNvSpPr txBox="1"/>
          <p:nvPr/>
        </p:nvSpPr>
        <p:spPr>
          <a:xfrm>
            <a:off x="3429000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AI hallucination: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Verified sources + rules</a:t>
            </a:r>
            <a:endParaRPr lang="en-US" sz="900" dirty="0"/>
          </a:p>
        </p:txBody>
      </p:sp>
      <p:sp>
        <p:nvSpPr>
          <p:cNvPr id="35" name="shape289"/>
          <p:cNvSpPr/>
          <p:nvPr/>
        </p:nvSpPr>
        <p:spPr>
          <a:xfrm>
            <a:off x="6035040" y="3886200"/>
            <a:ext cx="2651760" cy="402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290"/>
          <p:cNvSpPr txBox="1"/>
          <p:nvPr/>
        </p:nvSpPr>
        <p:spPr>
          <a:xfrm>
            <a:off x="6217920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Liability: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No diagnosis or prescribing</a:t>
            </a:r>
            <a:endParaRPr lang="en-US" sz="900" dirty="0"/>
          </a:p>
        </p:txBody>
      </p:sp>
      <p:sp>
        <p:nvSpPr>
          <p:cNvPr id="37" name="shape291"/>
          <p:cNvSpPr/>
          <p:nvPr/>
        </p:nvSpPr>
        <p:spPr>
          <a:xfrm>
            <a:off x="457200" y="4343400"/>
            <a:ext cx="2651760" cy="402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text292"/>
          <p:cNvSpPr txBox="1"/>
          <p:nvPr/>
        </p:nvSpPr>
        <p:spPr>
          <a:xfrm>
            <a:off x="640080" y="4343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Privacy: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Consent, encryption, aggregation</a:t>
            </a:r>
            <a:endParaRPr lang="en-US" sz="900" dirty="0"/>
          </a:p>
        </p:txBody>
      </p:sp>
      <p:sp>
        <p:nvSpPr>
          <p:cNvPr id="39" name="shape293"/>
          <p:cNvSpPr/>
          <p:nvPr/>
        </p:nvSpPr>
        <p:spPr>
          <a:xfrm>
            <a:off x="3246120" y="4343400"/>
            <a:ext cx="2651760" cy="402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0" name="text294"/>
          <p:cNvSpPr txBox="1"/>
          <p:nvPr/>
        </p:nvSpPr>
        <p:spPr>
          <a:xfrm>
            <a:off x="3429000" y="4343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Low internet: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Offline reminders, SMS</a:t>
            </a:r>
            <a:endParaRPr lang="en-US" sz="900" dirty="0"/>
          </a:p>
        </p:txBody>
      </p:sp>
      <p:sp>
        <p:nvSpPr>
          <p:cNvPr id="41" name="shape295"/>
          <p:cNvSpPr/>
          <p:nvPr/>
        </p:nvSpPr>
        <p:spPr>
          <a:xfrm>
            <a:off x="6035040" y="4343400"/>
            <a:ext cx="2651760" cy="4023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2" name="text296"/>
          <p:cNvSpPr txBox="1"/>
          <p:nvPr/>
        </p:nvSpPr>
        <p:spPr>
          <a:xfrm>
            <a:off x="6217920" y="4343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User trust: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Show sources, explain flags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6" type="title" hasCustomPrompt="1"/>
          </p:nvPr>
        </p:nvSpPr>
        <p:spPr>
          <a:xfrm>
            <a:off x="1051560" y="530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Future scope: beyond antibiotics</a:t>
            </a:r>
            <a:endParaRPr lang="en-US" sz="2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0515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2"/>
                </a:solidFill>
              </a:rPr>
              <a:t>FUTURE SCOPE AND REFERENCES</a:t>
            </a:r>
            <a:endParaRPr lang="en-US" sz="900" dirty="0"/>
          </a:p>
        </p:txBody>
      </p:sp>
      <p:sp>
        <p:nvSpPr>
          <p:cNvPr id="4" name="text297"/>
          <p:cNvSpPr txBox="1"/>
          <p:nvPr/>
        </p:nvSpPr>
        <p:spPr>
          <a:xfrm>
            <a:off x="457200" y="1188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FUTURE IMPROVEMENTS</a:t>
            </a:r>
            <a:endParaRPr lang="en-US" sz="900" dirty="0"/>
          </a:p>
        </p:txBody>
      </p:sp>
      <p:sp>
        <p:nvSpPr>
          <p:cNvPr id="5" name="text298"/>
          <p:cNvSpPr txBox="1"/>
          <p:nvPr/>
        </p:nvSpPr>
        <p:spPr>
          <a:xfrm>
            <a:off x="457200" y="1508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EHR integration, pharmacy QR verification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Tamper-resistant digital prescriptions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Counterfeit packaging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Smart pillbox and wearable support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Federated learning across networks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National AMR surveillance integration</a:t>
            </a:r>
            <a:endParaRPr lang="en-US" sz="1050" dirty="0"/>
          </a:p>
        </p:txBody>
      </p:sp>
      <p:sp>
        <p:nvSpPr>
          <p:cNvPr id="6" name="text299"/>
          <p:cNvSpPr txBox="1"/>
          <p:nvPr/>
        </p:nvSpPr>
        <p:spPr>
          <a:xfrm>
            <a:off x="4754880" y="1188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EXPANSION POSSIBILITIES</a:t>
            </a:r>
            <a:endParaRPr lang="en-US" sz="900" dirty="0"/>
          </a:p>
        </p:txBody>
      </p:sp>
      <p:sp>
        <p:nvSpPr>
          <p:cNvPr id="7" name="shape300"/>
          <p:cNvSpPr/>
          <p:nvPr/>
        </p:nvSpPr>
        <p:spPr>
          <a:xfrm>
            <a:off x="4754880" y="1554480"/>
            <a:ext cx="187452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301"/>
          <p:cNvSpPr txBox="1"/>
          <p:nvPr/>
        </p:nvSpPr>
        <p:spPr>
          <a:xfrm>
            <a:off x="4754880" y="155448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Tuberculosis</a:t>
            </a:r>
            <a:endParaRPr lang="en-US" sz="1000" dirty="0"/>
          </a:p>
        </p:txBody>
      </p:sp>
      <p:sp>
        <p:nvSpPr>
          <p:cNvPr id="9" name="shape302"/>
          <p:cNvSpPr/>
          <p:nvPr/>
        </p:nvSpPr>
        <p:spPr>
          <a:xfrm>
            <a:off x="6766560" y="1554480"/>
            <a:ext cx="187452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303"/>
          <p:cNvSpPr txBox="1"/>
          <p:nvPr/>
        </p:nvSpPr>
        <p:spPr>
          <a:xfrm>
            <a:off x="6766560" y="155448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Diabetes</a:t>
            </a:r>
            <a:endParaRPr lang="en-US" sz="1000" dirty="0"/>
          </a:p>
        </p:txBody>
      </p:sp>
      <p:sp>
        <p:nvSpPr>
          <p:cNvPr id="11" name="shape304"/>
          <p:cNvSpPr/>
          <p:nvPr/>
        </p:nvSpPr>
        <p:spPr>
          <a:xfrm>
            <a:off x="4754880" y="2103120"/>
            <a:ext cx="187452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ext305"/>
          <p:cNvSpPr txBox="1"/>
          <p:nvPr/>
        </p:nvSpPr>
        <p:spPr>
          <a:xfrm>
            <a:off x="4754880" y="210312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Hypertension</a:t>
            </a:r>
            <a:endParaRPr lang="en-US" sz="1000" dirty="0"/>
          </a:p>
        </p:txBody>
      </p:sp>
      <p:sp>
        <p:nvSpPr>
          <p:cNvPr id="13" name="shape306"/>
          <p:cNvSpPr/>
          <p:nvPr/>
        </p:nvSpPr>
        <p:spPr>
          <a:xfrm>
            <a:off x="6766560" y="2103120"/>
            <a:ext cx="187452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307"/>
          <p:cNvSpPr txBox="1"/>
          <p:nvPr/>
        </p:nvSpPr>
        <p:spPr>
          <a:xfrm>
            <a:off x="6766560" y="210312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Maternal health</a:t>
            </a:r>
            <a:endParaRPr lang="en-US" sz="1000" dirty="0"/>
          </a:p>
        </p:txBody>
      </p:sp>
      <p:sp>
        <p:nvSpPr>
          <p:cNvPr id="15" name="shape308"/>
          <p:cNvSpPr/>
          <p:nvPr/>
        </p:nvSpPr>
        <p:spPr>
          <a:xfrm>
            <a:off x="4754880" y="2651760"/>
            <a:ext cx="187452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309"/>
          <p:cNvSpPr txBox="1"/>
          <p:nvPr/>
        </p:nvSpPr>
        <p:spPr>
          <a:xfrm>
            <a:off x="4754880" y="265176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Vaccination</a:t>
            </a:r>
            <a:endParaRPr lang="en-US" sz="1000" dirty="0"/>
          </a:p>
        </p:txBody>
      </p:sp>
      <p:sp>
        <p:nvSpPr>
          <p:cNvPr id="17" name="shape310"/>
          <p:cNvSpPr/>
          <p:nvPr/>
        </p:nvSpPr>
        <p:spPr>
          <a:xfrm>
            <a:off x="6766560" y="2651760"/>
            <a:ext cx="187452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311"/>
          <p:cNvSpPr txBox="1"/>
          <p:nvPr/>
        </p:nvSpPr>
        <p:spPr>
          <a:xfrm>
            <a:off x="6766560" y="265176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Elderly safety</a:t>
            </a:r>
            <a:endParaRPr lang="en-US" sz="1000" dirty="0"/>
          </a:p>
        </p:txBody>
      </p:sp>
      <p:sp>
        <p:nvSpPr>
          <p:cNvPr id="19" name="text312"/>
          <p:cNvSpPr txBox="1"/>
          <p:nvPr/>
        </p:nvSpPr>
        <p:spPr>
          <a:xfrm>
            <a:off x="457200" y="3474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RESEARCH AND DATA SOURCES</a:t>
            </a:r>
            <a:endParaRPr lang="en-US" sz="900" dirty="0"/>
          </a:p>
        </p:txBody>
      </p:sp>
      <p:sp>
        <p:nvSpPr>
          <p:cNvPr id="20" name="text313"/>
          <p:cNvSpPr txBox="1"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WHO – Antimicrobial Resistance; WHO Global Action Plan on AMR; WHO Medication Without Harm; Murray et al., Global burden of bacterial antimicrobial resistance in 2019, The Lancet, 2022; UN – SDG 3 targets and indicators; national medicine-control authority data; peer-reviewed research on adherence and health literacy.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11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e Care">
  <a:themeElements>
    <a:clrScheme name="Capsule Care">
      <a:dk1>
        <a:srgbClr val="1B1B2F"/>
      </a:dk1>
      <a:lt1>
        <a:srgbClr val="FFFFFF"/>
      </a:lt1>
      <a:dk2>
        <a:srgbClr val="6B6B80"/>
      </a:dk2>
      <a:lt2>
        <a:srgbClr val="FBF6EE"/>
      </a:lt2>
      <a:accent1>
        <a:srgbClr val="FF6B57"/>
      </a:accent1>
      <a:accent2>
        <a:srgbClr val="2EC4A6"/>
      </a:accent2>
      <a:accent3>
        <a:srgbClr val="FFC857"/>
      </a:accent3>
      <a:accent4>
        <a:srgbClr val="6C5CE7"/>
      </a:accent4>
      <a:accent5>
        <a:srgbClr val="EADFCB"/>
      </a:accent5>
      <a:accent6>
        <a:srgbClr val="3A3A55"/>
      </a:accent6>
      <a:hlink>
        <a:srgbClr val="2EC4A6"/>
      </a:hlink>
      <a:folHlink>
        <a:srgbClr val="6C5CE7"/>
      </a:folHlink>
    </a:clrScheme>
    <a:fontScheme name="Capsule Car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SHENEX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RxShield AI</dc:title>
  <dc:subject>PptxGenJS Presentation</dc:subject>
  <dc:creator>Team SHENEX</dc:creator>
  <cp:lastModifiedBy>Team SHENEX</cp:lastModifiedBy>
  <cp:revision>1</cp:revision>
  <dcterms:created xsi:type="dcterms:W3CDTF">2026-10-09T05:16:35Z</dcterms:created>
  <dcterms:modified xsi:type="dcterms:W3CDTF">2026-10-09T05:16:35Z</dcterms:modified>
</cp:coreProperties>
</file>